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2" d="100"/>
          <a:sy n="112" d="100"/>
        </p:scale>
        <p:origin x="51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0468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908932C9-0201-9288-C521-EEC3C89E7B56}"/>
              </a:ext>
            </a:extLst>
          </p:cNvPr>
          <p:cNvSpPr txBox="1"/>
          <p:nvPr userDrawn="1">
            <p:extLst>
              <p:ext uri="{1162E1C5-73C7-4A58-AE30-91384D911F3F}">
                <p184:classification xmlns:p184="http://schemas.microsoft.com/office/powerpoint/2018/4/main" val="hdr"/>
              </p:ext>
            </p:extLst>
          </p:nvPr>
        </p:nvSpPr>
        <p:spPr>
          <a:xfrm>
            <a:off x="10926763" y="63500"/>
            <a:ext cx="1223962" cy="152400"/>
          </a:xfrm>
          <a:prstGeom prst="rect">
            <a:avLst/>
          </a:prstGeom>
        </p:spPr>
        <p:txBody>
          <a:bodyPr horzOverflow="overflow" lIns="0" tIns="0" rIns="0" bIns="0">
            <a:spAutoFit/>
          </a:bodyPr>
          <a:lstStyle/>
          <a:p>
            <a:pPr algn="l"/>
            <a:r>
              <a:rPr lang="es-AR" sz="1000">
                <a:solidFill>
                  <a:srgbClr val="000000">
                    <a:alpha val="50000"/>
                  </a:srgbClr>
                </a:solidFill>
                <a:latin typeface="Aptos" panose="020B0004020202020204" pitchFamily="34" charset="0"/>
              </a:rPr>
              <a:t>Documento: Personal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D"/>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9A24B"/>
          </a:solidFill>
          <a:ln/>
        </p:spPr>
        <p:txBody>
          <a:bodyPr/>
          <a:lstStyle/>
          <a:p>
            <a:endParaRPr lang="es-AR"/>
          </a:p>
        </p:txBody>
      </p:sp>
      <p:sp>
        <p:nvSpPr>
          <p:cNvPr id="3" name="Text 1"/>
          <p:cNvSpPr/>
          <p:nvPr/>
        </p:nvSpPr>
        <p:spPr>
          <a:xfrm>
            <a:off x="914400" y="1234440"/>
            <a:ext cx="10058400" cy="365760"/>
          </a:xfrm>
          <a:prstGeom prst="rect">
            <a:avLst/>
          </a:prstGeom>
          <a:noFill/>
          <a:ln/>
        </p:spPr>
        <p:txBody>
          <a:bodyPr wrap="square" lIns="0" tIns="0" rIns="0" bIns="0" rtlCol="0" anchor="ctr"/>
          <a:lstStyle/>
          <a:p>
            <a:pPr marL="0" indent="0">
              <a:buNone/>
            </a:pPr>
            <a:r>
              <a:rPr lang="en-US" sz="1500" b="1" kern="0" spc="300" dirty="0">
                <a:solidFill>
                  <a:srgbClr val="C9A24B"/>
                </a:solidFill>
                <a:latin typeface="Arial" pitchFamily="34" charset="0"/>
                <a:ea typeface="Arial" pitchFamily="34" charset="-122"/>
                <a:cs typeface="Arial" pitchFamily="34" charset="-120"/>
              </a:rPr>
              <a:t>TRABAJO FINAL · DEEP LEARNING</a:t>
            </a:r>
            <a:endParaRPr lang="en-US" sz="1500" dirty="0"/>
          </a:p>
        </p:txBody>
      </p:sp>
      <p:sp>
        <p:nvSpPr>
          <p:cNvPr id="4" name="Text 2"/>
          <p:cNvSpPr/>
          <p:nvPr/>
        </p:nvSpPr>
        <p:spPr>
          <a:xfrm>
            <a:off x="914400" y="1783080"/>
            <a:ext cx="10332720" cy="2194560"/>
          </a:xfrm>
          <a:prstGeom prst="rect">
            <a:avLst/>
          </a:prstGeom>
          <a:noFill/>
          <a:ln/>
        </p:spPr>
        <p:txBody>
          <a:bodyPr wrap="square" lIns="0" tIns="0" rIns="0" bIns="0" rtlCol="0" anchor="t"/>
          <a:lstStyle/>
          <a:p>
            <a:pPr marL="0" indent="0" algn="l">
              <a:lnSpc>
                <a:spcPct val="105000"/>
              </a:lnSpc>
              <a:buNone/>
            </a:pPr>
            <a:r>
              <a:rPr lang="en-US" sz="3300" b="1" dirty="0">
                <a:solidFill>
                  <a:srgbClr val="FFFFFF"/>
                </a:solidFill>
                <a:latin typeface="Arial" pitchFamily="34" charset="0"/>
                <a:ea typeface="Arial" pitchFamily="34" charset="-122"/>
                <a:cs typeface="Arial" pitchFamily="34" charset="-120"/>
              </a:rPr>
              <a:t>Agente basado en LLM para la adquisición autónoma de avisos inmobiliarios y enriquecimiento semántico de descripciones mediante NLP</a:t>
            </a:r>
            <a:endParaRPr lang="en-US" sz="3300" dirty="0"/>
          </a:p>
        </p:txBody>
      </p:sp>
      <p:sp>
        <p:nvSpPr>
          <p:cNvPr id="5" name="Shape 3"/>
          <p:cNvSpPr/>
          <p:nvPr/>
        </p:nvSpPr>
        <p:spPr>
          <a:xfrm>
            <a:off x="932688" y="4343400"/>
            <a:ext cx="2011680" cy="45720"/>
          </a:xfrm>
          <a:prstGeom prst="rect">
            <a:avLst/>
          </a:prstGeom>
          <a:solidFill>
            <a:srgbClr val="C9A24B"/>
          </a:solidFill>
          <a:ln/>
        </p:spPr>
        <p:txBody>
          <a:bodyPr/>
          <a:lstStyle/>
          <a:p>
            <a:endParaRPr lang="es-AR"/>
          </a:p>
        </p:txBody>
      </p:sp>
      <p:sp>
        <p:nvSpPr>
          <p:cNvPr id="6" name="Text 4"/>
          <p:cNvSpPr/>
          <p:nvPr/>
        </p:nvSpPr>
        <p:spPr>
          <a:xfrm>
            <a:off x="914400" y="4572000"/>
            <a:ext cx="10058400" cy="36576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Joaquín Héctor Vassarotto  ·  Legajo 106442</a:t>
            </a:r>
            <a:endParaRPr lang="en-US" sz="1800" dirty="0"/>
          </a:p>
        </p:txBody>
      </p:sp>
      <p:sp>
        <p:nvSpPr>
          <p:cNvPr id="7" name="Text 5"/>
          <p:cNvSpPr/>
          <p:nvPr/>
        </p:nvSpPr>
        <p:spPr>
          <a:xfrm>
            <a:off x="914400" y="4983480"/>
            <a:ext cx="10058400" cy="365760"/>
          </a:xfrm>
          <a:prstGeom prst="rect">
            <a:avLst/>
          </a:prstGeom>
          <a:noFill/>
          <a:ln/>
        </p:spPr>
        <p:txBody>
          <a:bodyPr wrap="square" lIns="0" tIns="0" rIns="0" bIns="0" rtlCol="0" anchor="ctr"/>
          <a:lstStyle/>
          <a:p>
            <a:pPr marL="0" indent="0">
              <a:buNone/>
            </a:pPr>
            <a:r>
              <a:rPr lang="en-US" sz="1400" dirty="0">
                <a:solidFill>
                  <a:srgbClr val="AEB4C0"/>
                </a:solidFill>
                <a:latin typeface="Arial" pitchFamily="34" charset="0"/>
                <a:ea typeface="Arial" pitchFamily="34" charset="-122"/>
                <a:cs typeface="Arial" pitchFamily="34" charset="-120"/>
              </a:rPr>
              <a:t>Maestría en Management &amp; Analytics (MMA) — ITBA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VISIÓN DE NEGOCIO</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El problema</a:t>
            </a:r>
            <a:endParaRPr lang="en-US" sz="3000" dirty="0"/>
          </a:p>
        </p:txBody>
      </p:sp>
      <p:sp>
        <p:nvSpPr>
          <p:cNvPr id="5" name="Text 3"/>
          <p:cNvSpPr/>
          <p:nvPr/>
        </p:nvSpPr>
        <p:spPr>
          <a:xfrm>
            <a:off x="566928" y="1572768"/>
            <a:ext cx="11055096" cy="457200"/>
          </a:xfrm>
          <a:prstGeom prst="rect">
            <a:avLst/>
          </a:prstGeom>
          <a:noFill/>
          <a:ln/>
        </p:spPr>
        <p:txBody>
          <a:bodyPr wrap="square" lIns="0" tIns="0" rIns="0" bIns="0" rtlCol="0" anchor="ctr"/>
          <a:lstStyle/>
          <a:p>
            <a:pPr marL="0" indent="0">
              <a:buNone/>
            </a:pPr>
            <a:r>
              <a:rPr lang="en-US" sz="1500" dirty="0">
                <a:solidFill>
                  <a:srgbClr val="444A55"/>
                </a:solidFill>
                <a:latin typeface="Arial" pitchFamily="34" charset="0"/>
                <a:ea typeface="Arial" pitchFamily="34" charset="-122"/>
                <a:cs typeface="Arial" pitchFamily="34" charset="-120"/>
              </a:rPr>
              <a:t>Valuar departamentos en CABA con modelos automáticos (AVM) choca con dos limitaciones de datos.</a:t>
            </a:r>
            <a:endParaRPr lang="en-US" sz="1500" dirty="0"/>
          </a:p>
        </p:txBody>
      </p:sp>
      <p:sp>
        <p:nvSpPr>
          <p:cNvPr id="6" name="Shape 4"/>
          <p:cNvSpPr/>
          <p:nvPr/>
        </p:nvSpPr>
        <p:spPr>
          <a:xfrm>
            <a:off x="566928" y="2240280"/>
            <a:ext cx="5344668" cy="2194560"/>
          </a:xfrm>
          <a:prstGeom prst="roundRect">
            <a:avLst>
              <a:gd name="adj" fmla="val 2500"/>
            </a:avLst>
          </a:prstGeom>
          <a:solidFill>
            <a:srgbClr val="F4F5F7"/>
          </a:solidFill>
          <a:ln w="12700">
            <a:solidFill>
              <a:srgbClr val="D9DCE1"/>
            </a:solidFill>
            <a:prstDash val="solid"/>
          </a:ln>
        </p:spPr>
        <p:txBody>
          <a:bodyPr/>
          <a:lstStyle/>
          <a:p>
            <a:endParaRPr lang="es-AR"/>
          </a:p>
        </p:txBody>
      </p:sp>
      <p:sp>
        <p:nvSpPr>
          <p:cNvPr id="7" name="Text 5"/>
          <p:cNvSpPr/>
          <p:nvPr/>
        </p:nvSpPr>
        <p:spPr>
          <a:xfrm>
            <a:off x="768096" y="2404872"/>
            <a:ext cx="4942332" cy="310896"/>
          </a:xfrm>
          <a:prstGeom prst="rect">
            <a:avLst/>
          </a:prstGeom>
          <a:noFill/>
          <a:ln/>
        </p:spPr>
        <p:txBody>
          <a:bodyPr wrap="square" lIns="0" tIns="0" rIns="0" bIns="0" rtlCol="0" anchor="t"/>
          <a:lstStyle/>
          <a:p>
            <a:pPr marL="0" indent="0" algn="l">
              <a:buNone/>
            </a:pPr>
            <a:r>
              <a:rPr lang="en-US" sz="1500" b="1" dirty="0">
                <a:solidFill>
                  <a:srgbClr val="16243D"/>
                </a:solidFill>
                <a:latin typeface="Arial" pitchFamily="34" charset="0"/>
                <a:ea typeface="Arial" pitchFamily="34" charset="-122"/>
                <a:cs typeface="Arial" pitchFamily="34" charset="-120"/>
              </a:rPr>
              <a:t>Adquirir los avisos es frágil y manual</a:t>
            </a:r>
            <a:endParaRPr lang="en-US" sz="1500" dirty="0"/>
          </a:p>
        </p:txBody>
      </p:sp>
      <p:sp>
        <p:nvSpPr>
          <p:cNvPr id="8" name="Text 6"/>
          <p:cNvSpPr/>
          <p:nvPr/>
        </p:nvSpPr>
        <p:spPr>
          <a:xfrm>
            <a:off x="768096" y="2807208"/>
            <a:ext cx="4942332" cy="1517904"/>
          </a:xfrm>
          <a:prstGeom prst="rect">
            <a:avLst/>
          </a:prstGeom>
          <a:noFill/>
          <a:ln/>
        </p:spPr>
        <p:txBody>
          <a:bodyPr wrap="square" lIns="0" tIns="0" rIns="0" bIns="0" rtlCol="0" anchor="t"/>
          <a:lstStyle/>
          <a:p>
            <a:pPr marL="0" indent="0" algn="l">
              <a:lnSpc>
                <a:spcPct val="105000"/>
              </a:lnSpc>
              <a:buNone/>
            </a:pPr>
            <a:r>
              <a:rPr lang="en-US" sz="1250" dirty="0">
                <a:solidFill>
                  <a:srgbClr val="444A55"/>
                </a:solidFill>
                <a:latin typeface="Arial" pitchFamily="34" charset="0"/>
                <a:ea typeface="Arial" pitchFamily="34" charset="-122"/>
                <a:cs typeface="Arial" pitchFamily="34" charset="-120"/>
              </a:rPr>
              <a:t>Los scrapers por reglas fijas se rompen ante cada cambio de layout del portal y no toleran la heterogeneidad entre publicaciones.</a:t>
            </a:r>
            <a:endParaRPr lang="en-US" sz="1250" dirty="0"/>
          </a:p>
        </p:txBody>
      </p:sp>
      <p:sp>
        <p:nvSpPr>
          <p:cNvPr id="9" name="Shape 7"/>
          <p:cNvSpPr/>
          <p:nvPr/>
        </p:nvSpPr>
        <p:spPr>
          <a:xfrm>
            <a:off x="6277356" y="2240280"/>
            <a:ext cx="5344668" cy="2194560"/>
          </a:xfrm>
          <a:prstGeom prst="roundRect">
            <a:avLst>
              <a:gd name="adj" fmla="val 2500"/>
            </a:avLst>
          </a:prstGeom>
          <a:solidFill>
            <a:srgbClr val="F4F5F7"/>
          </a:solidFill>
          <a:ln w="12700">
            <a:solidFill>
              <a:srgbClr val="D9DCE1"/>
            </a:solidFill>
            <a:prstDash val="solid"/>
          </a:ln>
        </p:spPr>
        <p:txBody>
          <a:bodyPr/>
          <a:lstStyle/>
          <a:p>
            <a:endParaRPr lang="es-AR"/>
          </a:p>
        </p:txBody>
      </p:sp>
      <p:sp>
        <p:nvSpPr>
          <p:cNvPr id="10" name="Text 8"/>
          <p:cNvSpPr/>
          <p:nvPr/>
        </p:nvSpPr>
        <p:spPr>
          <a:xfrm>
            <a:off x="6478524" y="2404872"/>
            <a:ext cx="4942332" cy="310896"/>
          </a:xfrm>
          <a:prstGeom prst="rect">
            <a:avLst/>
          </a:prstGeom>
          <a:noFill/>
          <a:ln/>
        </p:spPr>
        <p:txBody>
          <a:bodyPr wrap="square" lIns="0" tIns="0" rIns="0" bIns="0" rtlCol="0" anchor="t"/>
          <a:lstStyle/>
          <a:p>
            <a:pPr marL="0" indent="0" algn="l">
              <a:buNone/>
            </a:pPr>
            <a:r>
              <a:rPr lang="en-US" sz="1500" b="1" dirty="0">
                <a:solidFill>
                  <a:srgbClr val="16243D"/>
                </a:solidFill>
                <a:latin typeface="Arial" pitchFamily="34" charset="0"/>
                <a:ea typeface="Arial" pitchFamily="34" charset="-122"/>
                <a:cs typeface="Arial" pitchFamily="34" charset="-120"/>
              </a:rPr>
              <a:t>La información de valor está en el texto libre</a:t>
            </a:r>
            <a:endParaRPr lang="en-US" sz="1500" dirty="0"/>
          </a:p>
        </p:txBody>
      </p:sp>
      <p:sp>
        <p:nvSpPr>
          <p:cNvPr id="11" name="Text 9"/>
          <p:cNvSpPr/>
          <p:nvPr/>
        </p:nvSpPr>
        <p:spPr>
          <a:xfrm>
            <a:off x="6478524" y="2807208"/>
            <a:ext cx="4942332" cy="1517904"/>
          </a:xfrm>
          <a:prstGeom prst="rect">
            <a:avLst/>
          </a:prstGeom>
          <a:noFill/>
          <a:ln/>
        </p:spPr>
        <p:txBody>
          <a:bodyPr wrap="square" lIns="0" tIns="0" rIns="0" bIns="0" rtlCol="0" anchor="t"/>
          <a:lstStyle/>
          <a:p>
            <a:pPr marL="0" indent="0" algn="l">
              <a:lnSpc>
                <a:spcPct val="105000"/>
              </a:lnSpc>
              <a:buNone/>
            </a:pPr>
            <a:r>
              <a:rPr lang="en-US" sz="1250" dirty="0">
                <a:solidFill>
                  <a:srgbClr val="444A55"/>
                </a:solidFill>
                <a:latin typeface="Arial" pitchFamily="34" charset="0"/>
                <a:ea typeface="Arial" pitchFamily="34" charset="-122"/>
                <a:cs typeface="Arial" pitchFamily="34" charset="-120"/>
              </a:rPr>
              <a:t>Estado, amenities, orientación, antigüedad y señales del vendedor viven en la descripción, no en los campos tabulares.</a:t>
            </a:r>
            <a:endParaRPr lang="en-US" sz="1250" dirty="0"/>
          </a:p>
        </p:txBody>
      </p:sp>
      <p:sp>
        <p:nvSpPr>
          <p:cNvPr id="12" name="Shape 10"/>
          <p:cNvSpPr/>
          <p:nvPr/>
        </p:nvSpPr>
        <p:spPr>
          <a:xfrm>
            <a:off x="566928" y="4754880"/>
            <a:ext cx="11055096" cy="868680"/>
          </a:xfrm>
          <a:prstGeom prst="roundRect">
            <a:avLst>
              <a:gd name="adj" fmla="val 6316"/>
            </a:avLst>
          </a:prstGeom>
          <a:solidFill>
            <a:srgbClr val="FBF4E4"/>
          </a:solidFill>
          <a:ln w="12700">
            <a:solidFill>
              <a:srgbClr val="C9A24B"/>
            </a:solidFill>
            <a:prstDash val="solid"/>
          </a:ln>
        </p:spPr>
        <p:txBody>
          <a:bodyPr/>
          <a:lstStyle/>
          <a:p>
            <a:endParaRPr lang="es-AR"/>
          </a:p>
        </p:txBody>
      </p:sp>
      <p:sp>
        <p:nvSpPr>
          <p:cNvPr id="13" name="Text 11"/>
          <p:cNvSpPr/>
          <p:nvPr/>
        </p:nvSpPr>
        <p:spPr>
          <a:xfrm>
            <a:off x="768096" y="4800600"/>
            <a:ext cx="10652760" cy="77724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Dos propiedades con los mismos metros y ambientes pueden valer muy distinto según lo que diga la descripción.</a:t>
            </a:r>
            <a:endParaRPr lang="en-US" sz="1250" dirty="0"/>
          </a:p>
        </p:txBody>
      </p:sp>
      <p:sp>
        <p:nvSpPr>
          <p:cNvPr id="14" name="Text 12"/>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5" name="Text 13"/>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PROPUESTA DE VALOR</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2700" b="1" dirty="0">
                <a:solidFill>
                  <a:srgbClr val="16243D"/>
                </a:solidFill>
                <a:latin typeface="Arial" pitchFamily="34" charset="0"/>
                <a:ea typeface="Arial" pitchFamily="34" charset="-122"/>
                <a:cs typeface="Arial" pitchFamily="34" charset="-120"/>
              </a:rPr>
              <a:t>Generar variables latentes a partir del lenguaje natural</a:t>
            </a:r>
            <a:endParaRPr lang="en-US" sz="2700" dirty="0"/>
          </a:p>
        </p:txBody>
      </p:sp>
      <p:sp>
        <p:nvSpPr>
          <p:cNvPr id="5" name="Text 3"/>
          <p:cNvSpPr/>
          <p:nvPr/>
        </p:nvSpPr>
        <p:spPr>
          <a:xfrm>
            <a:off x="566928" y="1517904"/>
            <a:ext cx="11055096" cy="365760"/>
          </a:xfrm>
          <a:prstGeom prst="rect">
            <a:avLst/>
          </a:prstGeom>
          <a:noFill/>
          <a:ln/>
        </p:spPr>
        <p:txBody>
          <a:bodyPr wrap="square" lIns="0" tIns="0" rIns="0" bIns="0" rtlCol="0" anchor="ctr"/>
          <a:lstStyle/>
          <a:p>
            <a:pPr marL="0" indent="0">
              <a:buNone/>
            </a:pPr>
            <a:r>
              <a:rPr lang="en-US" sz="1500" b="1" i="1" dirty="0">
                <a:solidFill>
                  <a:srgbClr val="C9A24B"/>
                </a:solidFill>
                <a:latin typeface="Arial" pitchFamily="34" charset="0"/>
                <a:ea typeface="Arial" pitchFamily="34" charset="-122"/>
                <a:cs typeface="Arial" pitchFamily="34" charset="-120"/>
              </a:rPr>
              <a:t>El objetivo no es obtener datos.</a:t>
            </a:r>
            <a:endParaRPr lang="en-US" sz="1500" dirty="0"/>
          </a:p>
        </p:txBody>
      </p:sp>
      <p:sp>
        <p:nvSpPr>
          <p:cNvPr id="6" name="Shape 4"/>
          <p:cNvSpPr/>
          <p:nvPr/>
        </p:nvSpPr>
        <p:spPr>
          <a:xfrm>
            <a:off x="566928" y="2148840"/>
            <a:ext cx="384048" cy="384048"/>
          </a:xfrm>
          <a:prstGeom prst="roundRect">
            <a:avLst>
              <a:gd name="adj" fmla="val 11905"/>
            </a:avLst>
          </a:prstGeom>
          <a:solidFill>
            <a:srgbClr val="16243D"/>
          </a:solidFill>
          <a:ln/>
        </p:spPr>
        <p:txBody>
          <a:bodyPr/>
          <a:lstStyle/>
          <a:p>
            <a:endParaRPr lang="es-AR"/>
          </a:p>
        </p:txBody>
      </p:sp>
      <p:sp>
        <p:nvSpPr>
          <p:cNvPr id="7" name="Text 5"/>
          <p:cNvSpPr/>
          <p:nvPr/>
        </p:nvSpPr>
        <p:spPr>
          <a:xfrm>
            <a:off x="566928" y="2148840"/>
            <a:ext cx="384048" cy="384048"/>
          </a:xfrm>
          <a:prstGeom prst="rect">
            <a:avLst/>
          </a:prstGeom>
          <a:noFill/>
          <a:ln/>
        </p:spPr>
        <p:txBody>
          <a:bodyPr wrap="square" lIns="0" tIns="0" rIns="0" bIns="0" rtlCol="0" anchor="ctr"/>
          <a:lstStyle/>
          <a:p>
            <a:pPr marL="0" indent="0" algn="ctr">
              <a:buNone/>
            </a:pPr>
            <a:r>
              <a:rPr lang="en-US" sz="1800" b="1" dirty="0">
                <a:solidFill>
                  <a:srgbClr val="C9A24B"/>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133856" y="2093976"/>
            <a:ext cx="10488168" cy="438912"/>
          </a:xfrm>
          <a:prstGeom prst="rect">
            <a:avLst/>
          </a:prstGeom>
          <a:noFill/>
          <a:ln/>
        </p:spPr>
        <p:txBody>
          <a:bodyPr wrap="square" lIns="0" tIns="0" rIns="0" bIns="0" rtlCol="0" anchor="ctr"/>
          <a:lstStyle/>
          <a:p>
            <a:pPr marL="0" indent="0" algn="l">
              <a:lnSpc>
                <a:spcPct val="103000"/>
              </a:lnSpc>
              <a:buNone/>
            </a:pPr>
            <a:r>
              <a:rPr lang="en-US" sz="1450" b="1" dirty="0">
                <a:solidFill>
                  <a:srgbClr val="16243D"/>
                </a:solidFill>
                <a:latin typeface="Arial" pitchFamily="34" charset="0"/>
                <a:ea typeface="Arial" pitchFamily="34" charset="-122"/>
                <a:cs typeface="Arial" pitchFamily="34" charset="-120"/>
              </a:rPr>
              <a:t>Un agente que se adapta  </a:t>
            </a:r>
            <a:r>
              <a:rPr lang="en-US" sz="1450" dirty="0">
                <a:solidFill>
                  <a:srgbClr val="444A55"/>
                </a:solidFill>
                <a:latin typeface="Arial" pitchFamily="34" charset="0"/>
                <a:ea typeface="Arial" pitchFamily="34" charset="-122"/>
                <a:cs typeface="Arial" pitchFamily="34" charset="-120"/>
              </a:rPr>
              <a:t>en lugar de romperse ante cambios del portal.</a:t>
            </a:r>
            <a:endParaRPr lang="en-US" sz="1450" dirty="0"/>
          </a:p>
        </p:txBody>
      </p:sp>
      <p:sp>
        <p:nvSpPr>
          <p:cNvPr id="9" name="Shape 7"/>
          <p:cNvSpPr/>
          <p:nvPr/>
        </p:nvSpPr>
        <p:spPr>
          <a:xfrm>
            <a:off x="566928" y="3429000"/>
            <a:ext cx="384048" cy="384048"/>
          </a:xfrm>
          <a:prstGeom prst="roundRect">
            <a:avLst>
              <a:gd name="adj" fmla="val 11905"/>
            </a:avLst>
          </a:prstGeom>
          <a:solidFill>
            <a:srgbClr val="16243D"/>
          </a:solidFill>
          <a:ln/>
        </p:spPr>
        <p:txBody>
          <a:bodyPr/>
          <a:lstStyle/>
          <a:p>
            <a:endParaRPr lang="es-AR"/>
          </a:p>
        </p:txBody>
      </p:sp>
      <p:sp>
        <p:nvSpPr>
          <p:cNvPr id="10" name="Text 8"/>
          <p:cNvSpPr/>
          <p:nvPr/>
        </p:nvSpPr>
        <p:spPr>
          <a:xfrm>
            <a:off x="566928" y="3429000"/>
            <a:ext cx="384048" cy="384048"/>
          </a:xfrm>
          <a:prstGeom prst="rect">
            <a:avLst/>
          </a:prstGeom>
          <a:noFill/>
          <a:ln/>
        </p:spPr>
        <p:txBody>
          <a:bodyPr wrap="square" lIns="0" tIns="0" rIns="0" bIns="0" rtlCol="0" anchor="ctr"/>
          <a:lstStyle/>
          <a:p>
            <a:pPr marL="0" indent="0" algn="ctr">
              <a:buNone/>
            </a:pPr>
            <a:r>
              <a:rPr lang="en-US" sz="1800" b="1" dirty="0">
                <a:solidFill>
                  <a:srgbClr val="C9A24B"/>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133856" y="3374136"/>
            <a:ext cx="10488168" cy="521208"/>
          </a:xfrm>
          <a:prstGeom prst="rect">
            <a:avLst/>
          </a:prstGeom>
          <a:noFill/>
          <a:ln/>
        </p:spPr>
        <p:txBody>
          <a:bodyPr wrap="square" lIns="0" tIns="0" rIns="0" bIns="0" rtlCol="0" anchor="ctr"/>
          <a:lstStyle/>
          <a:p>
            <a:pPr marL="0" indent="0" algn="l">
              <a:lnSpc>
                <a:spcPct val="103000"/>
              </a:lnSpc>
              <a:buNone/>
            </a:pPr>
            <a:r>
              <a:rPr lang="en-US" sz="1450" b="1" dirty="0">
                <a:solidFill>
                  <a:srgbClr val="16243D"/>
                </a:solidFill>
                <a:latin typeface="Arial" pitchFamily="34" charset="0"/>
                <a:ea typeface="Arial" pitchFamily="34" charset="-122"/>
                <a:cs typeface="Arial" pitchFamily="34" charset="-120"/>
              </a:rPr>
              <a:t>Atributos que los tabulares no capturan  </a:t>
            </a:r>
            <a:r>
              <a:rPr lang="en-US" sz="1450" dirty="0">
                <a:solidFill>
                  <a:srgbClr val="444A55"/>
                </a:solidFill>
                <a:latin typeface="Arial" pitchFamily="34" charset="0"/>
                <a:ea typeface="Arial" pitchFamily="34" charset="-122"/>
                <a:cs typeface="Arial" pitchFamily="34" charset="-120"/>
              </a:rPr>
              <a:t>estado, orientación, antigüedad y amenities, estructurados a partir del texto.</a:t>
            </a:r>
            <a:endParaRPr lang="en-US" sz="1450" dirty="0"/>
          </a:p>
        </p:txBody>
      </p:sp>
      <p:sp>
        <p:nvSpPr>
          <p:cNvPr id="12" name="Shape 10"/>
          <p:cNvSpPr/>
          <p:nvPr/>
        </p:nvSpPr>
        <p:spPr>
          <a:xfrm>
            <a:off x="566928" y="4709160"/>
            <a:ext cx="384048" cy="384048"/>
          </a:xfrm>
          <a:prstGeom prst="roundRect">
            <a:avLst>
              <a:gd name="adj" fmla="val 11905"/>
            </a:avLst>
          </a:prstGeom>
          <a:solidFill>
            <a:srgbClr val="16243D"/>
          </a:solidFill>
          <a:ln/>
        </p:spPr>
        <p:txBody>
          <a:bodyPr/>
          <a:lstStyle/>
          <a:p>
            <a:endParaRPr lang="es-AR"/>
          </a:p>
        </p:txBody>
      </p:sp>
      <p:sp>
        <p:nvSpPr>
          <p:cNvPr id="13" name="Text 11"/>
          <p:cNvSpPr/>
          <p:nvPr/>
        </p:nvSpPr>
        <p:spPr>
          <a:xfrm>
            <a:off x="566928" y="4709160"/>
            <a:ext cx="384048" cy="384048"/>
          </a:xfrm>
          <a:prstGeom prst="rect">
            <a:avLst/>
          </a:prstGeom>
          <a:noFill/>
          <a:ln/>
        </p:spPr>
        <p:txBody>
          <a:bodyPr wrap="square" lIns="0" tIns="0" rIns="0" bIns="0" rtlCol="0" anchor="ctr"/>
          <a:lstStyle/>
          <a:p>
            <a:pPr marL="0" indent="0" algn="ctr">
              <a:buNone/>
            </a:pPr>
            <a:r>
              <a:rPr lang="en-US" sz="1800" b="1" dirty="0">
                <a:solidFill>
                  <a:srgbClr val="C9A24B"/>
                </a:solidFill>
                <a:latin typeface="Arial" pitchFamily="34" charset="0"/>
                <a:ea typeface="Arial" pitchFamily="34" charset="-122"/>
                <a:cs typeface="Arial" pitchFamily="34" charset="-120"/>
              </a:rPr>
              <a:t>3</a:t>
            </a:r>
            <a:endParaRPr lang="en-US" sz="1800" dirty="0"/>
          </a:p>
        </p:txBody>
      </p:sp>
      <p:sp>
        <p:nvSpPr>
          <p:cNvPr id="14" name="Text 12"/>
          <p:cNvSpPr/>
          <p:nvPr/>
        </p:nvSpPr>
        <p:spPr>
          <a:xfrm>
            <a:off x="1133856" y="4654296"/>
            <a:ext cx="10488168" cy="521208"/>
          </a:xfrm>
          <a:prstGeom prst="rect">
            <a:avLst/>
          </a:prstGeom>
          <a:noFill/>
          <a:ln/>
        </p:spPr>
        <p:txBody>
          <a:bodyPr wrap="square" lIns="0" tIns="0" rIns="0" bIns="0" rtlCol="0" anchor="ctr"/>
          <a:lstStyle/>
          <a:p>
            <a:pPr marL="0" indent="0" algn="l">
              <a:lnSpc>
                <a:spcPct val="103000"/>
              </a:lnSpc>
              <a:buNone/>
            </a:pPr>
            <a:r>
              <a:rPr lang="en-US" sz="1450" b="1" dirty="0">
                <a:solidFill>
                  <a:srgbClr val="16243D"/>
                </a:solidFill>
                <a:latin typeface="Arial" pitchFamily="34" charset="0"/>
                <a:ea typeface="Arial" pitchFamily="34" charset="-122"/>
                <a:cs typeface="Arial" pitchFamily="34" charset="-120"/>
              </a:rPr>
              <a:t>Señales del vendedor  </a:t>
            </a:r>
            <a:r>
              <a:rPr lang="en-US" sz="1450" dirty="0">
                <a:solidFill>
                  <a:srgbClr val="444A55"/>
                </a:solidFill>
                <a:latin typeface="Arial" pitchFamily="34" charset="0"/>
                <a:ea typeface="Arial" pitchFamily="34" charset="-122"/>
                <a:cs typeface="Arial" pitchFamily="34" charset="-120"/>
              </a:rPr>
              <a:t>«dueño directo», «escucho ofertas», «venta urgente»: las de mayor interés para detectar oportunidades, y que ningún portal tabula.</a:t>
            </a:r>
            <a:endParaRPr lang="en-US" sz="1450" dirty="0"/>
          </a:p>
        </p:txBody>
      </p:sp>
      <p:sp>
        <p:nvSpPr>
          <p:cNvPr id="15" name="Text 13"/>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6" name="Text 14"/>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METODOLOGÍA</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Arquitectura de dos capas</a:t>
            </a:r>
            <a:endParaRPr lang="en-US" sz="3000" dirty="0"/>
          </a:p>
        </p:txBody>
      </p:sp>
      <p:sp>
        <p:nvSpPr>
          <p:cNvPr id="5" name="Shape 3"/>
          <p:cNvSpPr/>
          <p:nvPr/>
        </p:nvSpPr>
        <p:spPr>
          <a:xfrm>
            <a:off x="566928" y="1691640"/>
            <a:ext cx="5344668" cy="3383280"/>
          </a:xfrm>
          <a:prstGeom prst="roundRect">
            <a:avLst>
              <a:gd name="adj" fmla="val 1622"/>
            </a:avLst>
          </a:prstGeom>
          <a:solidFill>
            <a:srgbClr val="F4F5F7"/>
          </a:solidFill>
          <a:ln w="12700">
            <a:solidFill>
              <a:srgbClr val="D9DCE1"/>
            </a:solidFill>
            <a:prstDash val="solid"/>
          </a:ln>
        </p:spPr>
        <p:txBody>
          <a:bodyPr/>
          <a:lstStyle/>
          <a:p>
            <a:endParaRPr lang="es-AR"/>
          </a:p>
        </p:txBody>
      </p:sp>
      <p:sp>
        <p:nvSpPr>
          <p:cNvPr id="6" name="Text 4"/>
          <p:cNvSpPr/>
          <p:nvPr/>
        </p:nvSpPr>
        <p:spPr>
          <a:xfrm>
            <a:off x="786384" y="1874520"/>
            <a:ext cx="4887468" cy="274320"/>
          </a:xfrm>
          <a:prstGeom prst="rect">
            <a:avLst/>
          </a:prstGeom>
          <a:noFill/>
          <a:ln/>
        </p:spPr>
        <p:txBody>
          <a:bodyPr wrap="square" lIns="0" tIns="0" rIns="0" bIns="0" rtlCol="0" anchor="ctr"/>
          <a:lstStyle/>
          <a:p>
            <a:pPr marL="0" indent="0">
              <a:buNone/>
            </a:pPr>
            <a:r>
              <a:rPr lang="en-US" sz="1200" b="1" kern="0" spc="200" dirty="0">
                <a:solidFill>
                  <a:srgbClr val="C9A24B"/>
                </a:solidFill>
                <a:latin typeface="Arial" pitchFamily="34" charset="0"/>
                <a:ea typeface="Arial" pitchFamily="34" charset="-122"/>
                <a:cs typeface="Arial" pitchFamily="34" charset="-120"/>
              </a:rPr>
              <a:t>CAPA 1</a:t>
            </a:r>
            <a:endParaRPr lang="en-US" sz="1200" dirty="0"/>
          </a:p>
        </p:txBody>
      </p:sp>
      <p:sp>
        <p:nvSpPr>
          <p:cNvPr id="7" name="Text 5"/>
          <p:cNvSpPr/>
          <p:nvPr/>
        </p:nvSpPr>
        <p:spPr>
          <a:xfrm>
            <a:off x="786384" y="2148840"/>
            <a:ext cx="4887468" cy="365760"/>
          </a:xfrm>
          <a:prstGeom prst="rect">
            <a:avLst/>
          </a:prstGeom>
          <a:noFill/>
          <a:ln/>
        </p:spPr>
        <p:txBody>
          <a:bodyPr wrap="square" lIns="0" tIns="0" rIns="0" bIns="0" rtlCol="0" anchor="ctr"/>
          <a:lstStyle/>
          <a:p>
            <a:pPr marL="0" indent="0">
              <a:buNone/>
            </a:pPr>
            <a:r>
              <a:rPr lang="en-US" sz="1800" b="1" dirty="0">
                <a:solidFill>
                  <a:srgbClr val="16243D"/>
                </a:solidFill>
                <a:latin typeface="Arial" pitchFamily="34" charset="0"/>
                <a:ea typeface="Arial" pitchFamily="34" charset="-122"/>
                <a:cs typeface="Arial" pitchFamily="34" charset="-120"/>
              </a:rPr>
              <a:t>Agente (orquestación)</a:t>
            </a:r>
            <a:endParaRPr lang="en-US" sz="1800" dirty="0"/>
          </a:p>
        </p:txBody>
      </p:sp>
      <p:sp>
        <p:nvSpPr>
          <p:cNvPr id="8" name="Text 6"/>
          <p:cNvSpPr/>
          <p:nvPr/>
        </p:nvSpPr>
        <p:spPr>
          <a:xfrm>
            <a:off x="786384" y="2606040"/>
            <a:ext cx="4887468" cy="1691640"/>
          </a:xfrm>
          <a:prstGeom prst="rect">
            <a:avLst/>
          </a:prstGeom>
          <a:noFill/>
          <a:ln/>
        </p:spPr>
        <p:txBody>
          <a:bodyPr wrap="square" lIns="0" tIns="0" rIns="0" bIns="0" rtlCol="0" anchor="t"/>
          <a:lstStyle/>
          <a:p>
            <a:pPr marL="0" indent="0">
              <a:lnSpc>
                <a:spcPct val="105000"/>
              </a:lnSpc>
              <a:buNone/>
            </a:pPr>
            <a:r>
              <a:rPr lang="en-US" sz="1250" dirty="0">
                <a:solidFill>
                  <a:srgbClr val="444A55"/>
                </a:solidFill>
                <a:latin typeface="Arial" pitchFamily="34" charset="0"/>
                <a:ea typeface="Arial" pitchFamily="34" charset="-122"/>
                <a:cs typeface="Arial" pitchFamily="34" charset="-120"/>
              </a:rPr>
              <a:t>LLM local y gratuito (Ollama, llama3.2:3b) con patrón ReAct / tool-use. El LLM actúa como policy: razona sobre el estado de la página y decide la acción — navegar, paginar, extraer, reintentar.</a:t>
            </a:r>
            <a:endParaRPr lang="en-US" sz="1250" dirty="0"/>
          </a:p>
          <a:p>
            <a:pPr marL="0" indent="0">
              <a:lnSpc>
                <a:spcPct val="105000"/>
              </a:lnSpc>
              <a:buNone/>
            </a:pPr>
            <a:endParaRPr lang="en-US" sz="1250" dirty="0"/>
          </a:p>
          <a:p>
            <a:pPr marL="0" indent="0">
              <a:lnSpc>
                <a:spcPct val="105000"/>
              </a:lnSpc>
              <a:buNone/>
            </a:pPr>
            <a:r>
              <a:rPr lang="en-US" sz="1250" dirty="0">
                <a:solidFill>
                  <a:srgbClr val="444A55"/>
                </a:solidFill>
                <a:latin typeface="Arial" pitchFamily="34" charset="0"/>
                <a:ea typeface="Arial" pitchFamily="34" charset="-122"/>
                <a:cs typeface="Arial" pitchFamily="34" charset="-120"/>
              </a:rPr>
              <a:t>Herramientas: Playwright + parser resiliente.</a:t>
            </a:r>
            <a:endParaRPr lang="en-US" sz="1250" dirty="0"/>
          </a:p>
        </p:txBody>
      </p:sp>
      <p:sp>
        <p:nvSpPr>
          <p:cNvPr id="9" name="Shape 7"/>
          <p:cNvSpPr/>
          <p:nvPr/>
        </p:nvSpPr>
        <p:spPr>
          <a:xfrm>
            <a:off x="786384" y="4361688"/>
            <a:ext cx="4905756" cy="548640"/>
          </a:xfrm>
          <a:prstGeom prst="roundRect">
            <a:avLst>
              <a:gd name="adj" fmla="val 10000"/>
            </a:avLst>
          </a:prstGeom>
          <a:solidFill>
            <a:srgbClr val="FBF4E4"/>
          </a:solidFill>
          <a:ln w="12700">
            <a:solidFill>
              <a:srgbClr val="C9A24B"/>
            </a:solidFill>
            <a:prstDash val="solid"/>
          </a:ln>
        </p:spPr>
        <p:txBody>
          <a:bodyPr/>
          <a:lstStyle/>
          <a:p>
            <a:endParaRPr lang="es-AR"/>
          </a:p>
        </p:txBody>
      </p:sp>
      <p:sp>
        <p:nvSpPr>
          <p:cNvPr id="10" name="Text 8"/>
          <p:cNvSpPr/>
          <p:nvPr/>
        </p:nvSpPr>
        <p:spPr>
          <a:xfrm>
            <a:off x="987552" y="4407408"/>
            <a:ext cx="4503420" cy="45720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El LLM se usa PRE-ENTRENADO. No es lo que se entrena.</a:t>
            </a:r>
            <a:endParaRPr lang="en-US" sz="1250" dirty="0"/>
          </a:p>
        </p:txBody>
      </p:sp>
      <p:sp>
        <p:nvSpPr>
          <p:cNvPr id="11" name="Shape 9"/>
          <p:cNvSpPr/>
          <p:nvPr/>
        </p:nvSpPr>
        <p:spPr>
          <a:xfrm>
            <a:off x="6277356" y="1691640"/>
            <a:ext cx="5344668" cy="3383280"/>
          </a:xfrm>
          <a:prstGeom prst="roundRect">
            <a:avLst>
              <a:gd name="adj" fmla="val 1622"/>
            </a:avLst>
          </a:prstGeom>
          <a:solidFill>
            <a:srgbClr val="16243D"/>
          </a:solidFill>
          <a:ln/>
        </p:spPr>
        <p:txBody>
          <a:bodyPr/>
          <a:lstStyle/>
          <a:p>
            <a:endParaRPr lang="es-AR"/>
          </a:p>
        </p:txBody>
      </p:sp>
      <p:sp>
        <p:nvSpPr>
          <p:cNvPr id="12" name="Text 10"/>
          <p:cNvSpPr/>
          <p:nvPr/>
        </p:nvSpPr>
        <p:spPr>
          <a:xfrm>
            <a:off x="6496812" y="1874520"/>
            <a:ext cx="4887468" cy="274320"/>
          </a:xfrm>
          <a:prstGeom prst="rect">
            <a:avLst/>
          </a:prstGeom>
          <a:noFill/>
          <a:ln/>
        </p:spPr>
        <p:txBody>
          <a:bodyPr wrap="square" lIns="0" tIns="0" rIns="0" bIns="0" rtlCol="0" anchor="ctr"/>
          <a:lstStyle/>
          <a:p>
            <a:pPr marL="0" indent="0">
              <a:buNone/>
            </a:pPr>
            <a:r>
              <a:rPr lang="en-US" sz="1200" b="1" kern="0" spc="200" dirty="0">
                <a:solidFill>
                  <a:srgbClr val="C9A24B"/>
                </a:solidFill>
                <a:latin typeface="Arial" pitchFamily="34" charset="0"/>
                <a:ea typeface="Arial" pitchFamily="34" charset="-122"/>
                <a:cs typeface="Arial" pitchFamily="34" charset="-120"/>
              </a:rPr>
              <a:t>CAPA 2</a:t>
            </a:r>
            <a:endParaRPr lang="en-US" sz="1200" dirty="0"/>
          </a:p>
        </p:txBody>
      </p:sp>
      <p:sp>
        <p:nvSpPr>
          <p:cNvPr id="13" name="Text 11"/>
          <p:cNvSpPr/>
          <p:nvPr/>
        </p:nvSpPr>
        <p:spPr>
          <a:xfrm>
            <a:off x="6496812" y="2148840"/>
            <a:ext cx="4887468" cy="36576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Enriquecimiento (NLP)</a:t>
            </a:r>
            <a:endParaRPr lang="en-US" sz="1800" dirty="0"/>
          </a:p>
        </p:txBody>
      </p:sp>
      <p:sp>
        <p:nvSpPr>
          <p:cNvPr id="14" name="Text 12"/>
          <p:cNvSpPr/>
          <p:nvPr/>
        </p:nvSpPr>
        <p:spPr>
          <a:xfrm>
            <a:off x="6496812" y="2606040"/>
            <a:ext cx="4887468" cy="1554480"/>
          </a:xfrm>
          <a:prstGeom prst="rect">
            <a:avLst/>
          </a:prstGeom>
          <a:noFill/>
          <a:ln/>
        </p:spPr>
        <p:txBody>
          <a:bodyPr wrap="square" lIns="0" tIns="0" rIns="0" bIns="0" rtlCol="0" anchor="t"/>
          <a:lstStyle/>
          <a:p>
            <a:pPr marL="0" indent="0">
              <a:lnSpc>
                <a:spcPct val="105000"/>
              </a:lnSpc>
              <a:buNone/>
            </a:pPr>
            <a:r>
              <a:rPr lang="en-US" sz="1250" dirty="0">
                <a:solidFill>
                  <a:srgbClr val="DCE0E7"/>
                </a:solidFill>
                <a:latin typeface="Arial" pitchFamily="34" charset="0"/>
                <a:ea typeface="Arial" pitchFamily="34" charset="-122"/>
                <a:cs typeface="Arial" pitchFamily="34" charset="-120"/>
              </a:rPr>
              <a:t>Dos transformers BETO (bert-base-spanish) fine-tuneados que transforman la descripción en variables estructuradas: un modelo de NER y uno de clasificación de señales.</a:t>
            </a:r>
            <a:endParaRPr lang="en-US" sz="1250" dirty="0"/>
          </a:p>
        </p:txBody>
      </p:sp>
      <p:sp>
        <p:nvSpPr>
          <p:cNvPr id="15" name="Shape 13"/>
          <p:cNvSpPr/>
          <p:nvPr/>
        </p:nvSpPr>
        <p:spPr>
          <a:xfrm>
            <a:off x="6496812" y="4361688"/>
            <a:ext cx="4905756" cy="548640"/>
          </a:xfrm>
          <a:prstGeom prst="roundRect">
            <a:avLst>
              <a:gd name="adj" fmla="val 8333"/>
            </a:avLst>
          </a:prstGeom>
          <a:solidFill>
            <a:srgbClr val="C9A24B"/>
          </a:solidFill>
          <a:ln/>
        </p:spPr>
        <p:txBody>
          <a:bodyPr/>
          <a:lstStyle/>
          <a:p>
            <a:endParaRPr lang="es-AR"/>
          </a:p>
        </p:txBody>
      </p:sp>
      <p:sp>
        <p:nvSpPr>
          <p:cNvPr id="16" name="Text 14"/>
          <p:cNvSpPr/>
          <p:nvPr/>
        </p:nvSpPr>
        <p:spPr>
          <a:xfrm>
            <a:off x="6496812" y="4361688"/>
            <a:ext cx="4905756" cy="548640"/>
          </a:xfrm>
          <a:prstGeom prst="rect">
            <a:avLst/>
          </a:prstGeom>
          <a:noFill/>
          <a:ln/>
        </p:spPr>
        <p:txBody>
          <a:bodyPr wrap="square" lIns="0" tIns="0" rIns="0" bIns="0" rtlCol="0" anchor="ctr"/>
          <a:lstStyle/>
          <a:p>
            <a:pPr marL="0" indent="0" algn="ctr">
              <a:buNone/>
            </a:pPr>
            <a:r>
              <a:rPr lang="en-US" sz="1250" b="1" i="1" dirty="0">
                <a:solidFill>
                  <a:srgbClr val="16243D"/>
                </a:solidFill>
                <a:latin typeface="Arial" pitchFamily="34" charset="0"/>
                <a:ea typeface="Arial" pitchFamily="34" charset="-122"/>
                <a:cs typeface="Arial" pitchFamily="34" charset="-120"/>
              </a:rPr>
              <a:t>Núcleo entrenable y entregable de la materia.</a:t>
            </a:r>
            <a:endParaRPr lang="en-US" sz="1250" dirty="0"/>
          </a:p>
        </p:txBody>
      </p:sp>
      <p:sp>
        <p:nvSpPr>
          <p:cNvPr id="17" name="Text 15"/>
          <p:cNvSpPr/>
          <p:nvPr/>
        </p:nvSpPr>
        <p:spPr>
          <a:xfrm>
            <a:off x="566928" y="5394960"/>
            <a:ext cx="11055096" cy="365760"/>
          </a:xfrm>
          <a:prstGeom prst="rect">
            <a:avLst/>
          </a:prstGeom>
          <a:noFill/>
          <a:ln/>
        </p:spPr>
        <p:txBody>
          <a:bodyPr wrap="square" lIns="0" tIns="0" rIns="0" bIns="0" rtlCol="0" anchor="ctr"/>
          <a:lstStyle/>
          <a:p>
            <a:pPr marL="0" indent="0" algn="ctr">
              <a:buNone/>
            </a:pPr>
            <a:r>
              <a:rPr lang="en-US" sz="1250" b="1" dirty="0">
                <a:solidFill>
                  <a:srgbClr val="16243D"/>
                </a:solidFill>
                <a:latin typeface="Arial" pitchFamily="34" charset="0"/>
                <a:ea typeface="Arial" pitchFamily="34" charset="-122"/>
                <a:cs typeface="Arial" pitchFamily="34" charset="-120"/>
              </a:rPr>
              <a:t>Stack:  LangChain · LangGraph · Playwright · HuggingFace Transformers · PyTorch</a:t>
            </a:r>
            <a:endParaRPr lang="en-US" sz="1250" dirty="0"/>
          </a:p>
        </p:txBody>
      </p:sp>
      <p:sp>
        <p:nvSpPr>
          <p:cNvPr id="18" name="Text 16"/>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9" name="Text 17"/>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CAPA 2 · NLP</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Los modelos que se entrenan</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5096" cy="1700784"/>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57416">
                  <a:extLst>
                    <a:ext uri="{9D8B030D-6E8A-4147-A177-3AD203B41FA5}">
                      <a16:colId xmlns:a16="http://schemas.microsoft.com/office/drawing/2014/main" val="20002"/>
                    </a:ext>
                  </a:extLst>
                </a:gridCol>
              </a:tblGrid>
              <a:tr h="566928">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Modelo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Tarea</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Clases</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extLst>
                  <a:ext uri="{0D108BD9-81ED-4DB2-BD59-A6C34878D82A}">
                    <a16:rowId xmlns:a16="http://schemas.microsoft.com/office/drawing/2014/main" val="10000"/>
                  </a:ext>
                </a:extLst>
              </a:tr>
              <a:tr h="566928">
                <a:tc>
                  <a:txBody>
                    <a:bodyPr/>
                    <a:lstStyle/>
                    <a:p>
                      <a:pPr marL="0" indent="0" algn="l">
                        <a:buNone/>
                      </a:pPr>
                      <a:r>
                        <a:rPr lang="en-US" sz="1250" b="1" dirty="0">
                          <a:solidFill>
                            <a:srgbClr val="16243D"/>
                          </a:solidFill>
                          <a:latin typeface="Arial" pitchFamily="34" charset="0"/>
                          <a:ea typeface="Arial" pitchFamily="34" charset="-122"/>
                          <a:cs typeface="Arial" pitchFamily="34" charset="-120"/>
                        </a:rPr>
                        <a:t>NER</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Token classification · BIO</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AMENITY · ESTADO · ANTIGUEDAD · ORIENTACION · EXPENSAS</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1"/>
                  </a:ext>
                </a:extLst>
              </a:tr>
              <a:tr h="566928">
                <a:tc>
                  <a:txBody>
                    <a:bodyPr/>
                    <a:lstStyle/>
                    <a:p>
                      <a:pPr marL="0" indent="0" algn="l">
                        <a:buNone/>
                      </a:pPr>
                      <a:r>
                        <a:rPr lang="en-US" sz="1250" b="1" dirty="0">
                          <a:solidFill>
                            <a:srgbClr val="16243D"/>
                          </a:solidFill>
                          <a:latin typeface="Arial" pitchFamily="34" charset="0"/>
                          <a:ea typeface="Arial" pitchFamily="34" charset="-122"/>
                          <a:cs typeface="Arial" pitchFamily="34" charset="-120"/>
                        </a:rPr>
                        <a:t>Clasificación</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Multilabel</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DUENO_DIRECTO · OPORTUNIDAD · URGENCIA · REFACCION</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2"/>
                  </a:ext>
                </a:extLst>
              </a:tr>
            </a:tbl>
          </a:graphicData>
        </a:graphic>
      </p:graphicFrame>
      <p:sp>
        <p:nvSpPr>
          <p:cNvPr id="5" name="Shape 3"/>
          <p:cNvSpPr/>
          <p:nvPr/>
        </p:nvSpPr>
        <p:spPr>
          <a:xfrm>
            <a:off x="566928" y="3611880"/>
            <a:ext cx="11055096" cy="685800"/>
          </a:xfrm>
          <a:prstGeom prst="roundRect">
            <a:avLst>
              <a:gd name="adj" fmla="val 8000"/>
            </a:avLst>
          </a:prstGeom>
          <a:solidFill>
            <a:srgbClr val="FBF4E4"/>
          </a:solidFill>
          <a:ln w="12700">
            <a:solidFill>
              <a:srgbClr val="C9A24B"/>
            </a:solidFill>
            <a:prstDash val="solid"/>
          </a:ln>
        </p:spPr>
        <p:txBody>
          <a:bodyPr/>
          <a:lstStyle/>
          <a:p>
            <a:endParaRPr lang="es-AR"/>
          </a:p>
        </p:txBody>
      </p:sp>
      <p:sp>
        <p:nvSpPr>
          <p:cNvPr id="7" name="Text 4"/>
          <p:cNvSpPr/>
          <p:nvPr/>
        </p:nvSpPr>
        <p:spPr>
          <a:xfrm>
            <a:off x="768096" y="3657600"/>
            <a:ext cx="10652760" cy="59436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Multilabel y no multiclase: un aviso puede ser a la vez «dueño directo» y «urgencia».</a:t>
            </a:r>
            <a:endParaRPr lang="en-US" sz="1250" dirty="0"/>
          </a:p>
        </p:txBody>
      </p:sp>
      <p:sp>
        <p:nvSpPr>
          <p:cNvPr id="8" name="Shape 5"/>
          <p:cNvSpPr/>
          <p:nvPr/>
        </p:nvSpPr>
        <p:spPr>
          <a:xfrm>
            <a:off x="566928" y="4480560"/>
            <a:ext cx="11055096" cy="1234440"/>
          </a:xfrm>
          <a:prstGeom prst="roundRect">
            <a:avLst>
              <a:gd name="adj" fmla="val 4444"/>
            </a:avLst>
          </a:prstGeom>
          <a:solidFill>
            <a:srgbClr val="F4F5F7"/>
          </a:solidFill>
          <a:ln w="12700">
            <a:solidFill>
              <a:srgbClr val="D9DCE1"/>
            </a:solidFill>
            <a:prstDash val="solid"/>
          </a:ln>
        </p:spPr>
        <p:txBody>
          <a:bodyPr/>
          <a:lstStyle/>
          <a:p>
            <a:endParaRPr lang="es-AR"/>
          </a:p>
        </p:txBody>
      </p:sp>
      <p:sp>
        <p:nvSpPr>
          <p:cNvPr id="9" name="Text 6"/>
          <p:cNvSpPr/>
          <p:nvPr/>
        </p:nvSpPr>
        <p:spPr>
          <a:xfrm>
            <a:off x="768096" y="4645152"/>
            <a:ext cx="10652760" cy="310896"/>
          </a:xfrm>
          <a:prstGeom prst="rect">
            <a:avLst/>
          </a:prstGeom>
          <a:noFill/>
          <a:ln/>
        </p:spPr>
        <p:txBody>
          <a:bodyPr wrap="square" lIns="0" tIns="0" rIns="0" bIns="0" rtlCol="0" anchor="t"/>
          <a:lstStyle/>
          <a:p>
            <a:pPr marL="0" indent="0" algn="l">
              <a:buNone/>
            </a:pPr>
            <a:r>
              <a:rPr lang="en-US" sz="1400" b="1" dirty="0">
                <a:solidFill>
                  <a:srgbClr val="16243D"/>
                </a:solidFill>
                <a:latin typeface="Arial" pitchFamily="34" charset="0"/>
                <a:ea typeface="Arial" pitchFamily="34" charset="-122"/>
                <a:cs typeface="Arial" pitchFamily="34" charset="-120"/>
              </a:rPr>
              <a:t>Restricción de hardware — condiciona todo el diseño</a:t>
            </a:r>
            <a:endParaRPr lang="en-US" sz="1400" dirty="0"/>
          </a:p>
        </p:txBody>
      </p:sp>
      <p:sp>
        <p:nvSpPr>
          <p:cNvPr id="10" name="Text 7"/>
          <p:cNvSpPr/>
          <p:nvPr/>
        </p:nvSpPr>
        <p:spPr>
          <a:xfrm>
            <a:off x="768096" y="5047488"/>
            <a:ext cx="10652760" cy="557784"/>
          </a:xfrm>
          <a:prstGeom prst="rect">
            <a:avLst/>
          </a:prstGeom>
          <a:noFill/>
          <a:ln/>
        </p:spPr>
        <p:txBody>
          <a:bodyPr wrap="square" lIns="0" tIns="0" rIns="0" bIns="0" rtlCol="0" anchor="t"/>
          <a:lstStyle/>
          <a:p>
            <a:pPr marL="0" indent="0" algn="l">
              <a:lnSpc>
                <a:spcPct val="105000"/>
              </a:lnSpc>
              <a:buNone/>
            </a:pPr>
            <a:r>
              <a:rPr lang="en-US" sz="1250" dirty="0">
                <a:solidFill>
                  <a:srgbClr val="444A55"/>
                </a:solidFill>
                <a:latin typeface="Arial" pitchFamily="34" charset="0"/>
                <a:ea typeface="Arial" pitchFamily="34" charset="-122"/>
                <a:cs typeface="Arial" pitchFamily="34" charset="-120"/>
              </a:rPr>
              <a:t>GTX 1650 con 4 GB de VRAM  →  entrenamiento en fp16, batch de 4 y gradient accumulation ×4 para recuperar un batch efectivo de 16.</a:t>
            </a:r>
            <a:endParaRPr lang="en-US" sz="1250" dirty="0"/>
          </a:p>
        </p:txBody>
      </p:sp>
      <p:sp>
        <p:nvSpPr>
          <p:cNvPr id="11" name="Text 8"/>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2" name="Text 9"/>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MÉTRICAS · LO PIDE LA CONSIGNA</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Definición y justificación</a:t>
            </a:r>
            <a:endParaRPr lang="en-US" sz="3000" dirty="0"/>
          </a:p>
        </p:txBody>
      </p:sp>
      <p:sp>
        <p:nvSpPr>
          <p:cNvPr id="5" name="Shape 3"/>
          <p:cNvSpPr/>
          <p:nvPr/>
        </p:nvSpPr>
        <p:spPr>
          <a:xfrm>
            <a:off x="566928" y="1691640"/>
            <a:ext cx="5344668" cy="1874520"/>
          </a:xfrm>
          <a:prstGeom prst="roundRect">
            <a:avLst>
              <a:gd name="adj" fmla="val 2927"/>
            </a:avLst>
          </a:prstGeom>
          <a:solidFill>
            <a:srgbClr val="F4F5F7"/>
          </a:solidFill>
          <a:ln w="12700">
            <a:solidFill>
              <a:srgbClr val="D9DCE1"/>
            </a:solidFill>
            <a:prstDash val="solid"/>
          </a:ln>
        </p:spPr>
        <p:txBody>
          <a:bodyPr/>
          <a:lstStyle/>
          <a:p>
            <a:endParaRPr lang="es-AR"/>
          </a:p>
        </p:txBody>
      </p:sp>
      <p:sp>
        <p:nvSpPr>
          <p:cNvPr id="6" name="Text 4"/>
          <p:cNvSpPr/>
          <p:nvPr/>
        </p:nvSpPr>
        <p:spPr>
          <a:xfrm>
            <a:off x="768096" y="1856232"/>
            <a:ext cx="4942332" cy="310896"/>
          </a:xfrm>
          <a:prstGeom prst="rect">
            <a:avLst/>
          </a:prstGeom>
          <a:noFill/>
          <a:ln/>
        </p:spPr>
        <p:txBody>
          <a:bodyPr wrap="square" lIns="0" tIns="0" rIns="0" bIns="0" rtlCol="0" anchor="t"/>
          <a:lstStyle/>
          <a:p>
            <a:pPr marL="0" indent="0" algn="l">
              <a:buNone/>
            </a:pPr>
            <a:r>
              <a:rPr lang="en-US" sz="1500" b="1" dirty="0">
                <a:solidFill>
                  <a:srgbClr val="16243D"/>
                </a:solidFill>
                <a:latin typeface="Arial" pitchFamily="34" charset="0"/>
                <a:ea typeface="Arial" pitchFamily="34" charset="-122"/>
                <a:cs typeface="Arial" pitchFamily="34" charset="-120"/>
              </a:rPr>
              <a:t>NER — F1 por entidad (seqeval)</a:t>
            </a:r>
            <a:endParaRPr lang="en-US" sz="1500" dirty="0"/>
          </a:p>
        </p:txBody>
      </p:sp>
      <p:sp>
        <p:nvSpPr>
          <p:cNvPr id="7" name="Text 5"/>
          <p:cNvSpPr/>
          <p:nvPr/>
        </p:nvSpPr>
        <p:spPr>
          <a:xfrm>
            <a:off x="768096" y="2258568"/>
            <a:ext cx="4942332" cy="1197864"/>
          </a:xfrm>
          <a:prstGeom prst="rect">
            <a:avLst/>
          </a:prstGeom>
          <a:noFill/>
          <a:ln/>
        </p:spPr>
        <p:txBody>
          <a:bodyPr wrap="square" lIns="0" tIns="0" rIns="0" bIns="0" rtlCol="0" anchor="t"/>
          <a:lstStyle/>
          <a:p>
            <a:pPr marL="0" indent="0" algn="l">
              <a:lnSpc>
                <a:spcPct val="105000"/>
              </a:lnSpc>
              <a:buNone/>
            </a:pPr>
            <a:r>
              <a:rPr lang="en-US" sz="1200" dirty="0">
                <a:solidFill>
                  <a:srgbClr val="444A55"/>
                </a:solidFill>
                <a:latin typeface="Arial" pitchFamily="34" charset="0"/>
                <a:ea typeface="Arial" pitchFamily="34" charset="-122"/>
                <a:cs typeface="Arial" pitchFamily="34" charset="-120"/>
              </a:rPr>
              <a:t>No accuracy por token: la mayoría de los tokens son «O», así que un modelo que no detecta nada saca accuracy altísimo.</a:t>
            </a:r>
            <a:endParaRPr lang="en-US" sz="1200" dirty="0"/>
          </a:p>
          <a:p>
            <a:pPr marL="0" indent="0" algn="l">
              <a:lnSpc>
                <a:spcPct val="105000"/>
              </a:lnSpc>
              <a:buNone/>
            </a:pPr>
            <a:endParaRPr lang="en-US" sz="1200" dirty="0"/>
          </a:p>
          <a:p>
            <a:pPr marL="0" indent="0" algn="l">
              <a:lnSpc>
                <a:spcPct val="105000"/>
              </a:lnSpc>
              <a:buNone/>
            </a:pPr>
            <a:r>
              <a:rPr lang="en-US" sz="1200" dirty="0">
                <a:solidFill>
                  <a:srgbClr val="444A55"/>
                </a:solidFill>
                <a:latin typeface="Arial" pitchFamily="34" charset="0"/>
                <a:ea typeface="Arial" pitchFamily="34" charset="-122"/>
                <a:cs typeface="Arial" pitchFamily="34" charset="-120"/>
              </a:rPr>
              <a:t>Importa el span completo: seqeval exige que coincidan tipo y límites exactos.</a:t>
            </a:r>
            <a:endParaRPr lang="en-US" sz="1200" dirty="0"/>
          </a:p>
        </p:txBody>
      </p:sp>
      <p:sp>
        <p:nvSpPr>
          <p:cNvPr id="8" name="Shape 6"/>
          <p:cNvSpPr/>
          <p:nvPr/>
        </p:nvSpPr>
        <p:spPr>
          <a:xfrm>
            <a:off x="6277356" y="1691640"/>
            <a:ext cx="5344668" cy="1874520"/>
          </a:xfrm>
          <a:prstGeom prst="roundRect">
            <a:avLst>
              <a:gd name="adj" fmla="val 2927"/>
            </a:avLst>
          </a:prstGeom>
          <a:solidFill>
            <a:srgbClr val="F4F5F7"/>
          </a:solidFill>
          <a:ln w="12700">
            <a:solidFill>
              <a:srgbClr val="D9DCE1"/>
            </a:solidFill>
            <a:prstDash val="solid"/>
          </a:ln>
        </p:spPr>
        <p:txBody>
          <a:bodyPr/>
          <a:lstStyle/>
          <a:p>
            <a:endParaRPr lang="es-AR"/>
          </a:p>
        </p:txBody>
      </p:sp>
      <p:sp>
        <p:nvSpPr>
          <p:cNvPr id="9" name="Text 7"/>
          <p:cNvSpPr/>
          <p:nvPr/>
        </p:nvSpPr>
        <p:spPr>
          <a:xfrm>
            <a:off x="6478524" y="1856232"/>
            <a:ext cx="4942332" cy="310896"/>
          </a:xfrm>
          <a:prstGeom prst="rect">
            <a:avLst/>
          </a:prstGeom>
          <a:noFill/>
          <a:ln/>
        </p:spPr>
        <p:txBody>
          <a:bodyPr wrap="square" lIns="0" tIns="0" rIns="0" bIns="0" rtlCol="0" anchor="t"/>
          <a:lstStyle/>
          <a:p>
            <a:pPr marL="0" indent="0" algn="l">
              <a:buNone/>
            </a:pPr>
            <a:r>
              <a:rPr lang="en-US" sz="1500" b="1" dirty="0">
                <a:solidFill>
                  <a:srgbClr val="16243D"/>
                </a:solidFill>
                <a:latin typeface="Arial" pitchFamily="34" charset="0"/>
                <a:ea typeface="Arial" pitchFamily="34" charset="-122"/>
                <a:cs typeface="Arial" pitchFamily="34" charset="-120"/>
              </a:rPr>
              <a:t>Clasificación — F1 macro y micro</a:t>
            </a:r>
            <a:endParaRPr lang="en-US" sz="1500" dirty="0"/>
          </a:p>
        </p:txBody>
      </p:sp>
      <p:sp>
        <p:nvSpPr>
          <p:cNvPr id="10" name="Text 8"/>
          <p:cNvSpPr/>
          <p:nvPr/>
        </p:nvSpPr>
        <p:spPr>
          <a:xfrm>
            <a:off x="6478524" y="2258568"/>
            <a:ext cx="4942332" cy="1197864"/>
          </a:xfrm>
          <a:prstGeom prst="rect">
            <a:avLst/>
          </a:prstGeom>
          <a:noFill/>
          <a:ln/>
        </p:spPr>
        <p:txBody>
          <a:bodyPr wrap="square" lIns="0" tIns="0" rIns="0" bIns="0" rtlCol="0" anchor="t"/>
          <a:lstStyle/>
          <a:p>
            <a:pPr marL="0" indent="0" algn="l">
              <a:lnSpc>
                <a:spcPct val="105000"/>
              </a:lnSpc>
              <a:buNone/>
            </a:pPr>
            <a:r>
              <a:rPr lang="en-US" sz="1200" dirty="0">
                <a:solidFill>
                  <a:srgbClr val="444A55"/>
                </a:solidFill>
                <a:latin typeface="Arial" pitchFamily="34" charset="0"/>
                <a:ea typeface="Arial" pitchFamily="34" charset="-122"/>
                <a:cs typeface="Arial" pitchFamily="34" charset="-120"/>
              </a:rPr>
              <a:t>Las clases están desbalanceadas: el micro lo dominan las frecuentes. El macro promedia las cuatro con igual peso y penaliza ignorar una clase rara — URGENCIA y OPORTUNIDAD, las más útiles. Se reporta también F1 por clase.</a:t>
            </a:r>
            <a:endParaRPr lang="en-US" sz="1200" dirty="0"/>
          </a:p>
        </p:txBody>
      </p:sp>
      <p:sp>
        <p:nvSpPr>
          <p:cNvPr id="11" name="Shape 9"/>
          <p:cNvSpPr/>
          <p:nvPr/>
        </p:nvSpPr>
        <p:spPr>
          <a:xfrm>
            <a:off x="566928" y="3794760"/>
            <a:ext cx="11055096" cy="1600200"/>
          </a:xfrm>
          <a:prstGeom prst="roundRect">
            <a:avLst>
              <a:gd name="adj" fmla="val 3429"/>
            </a:avLst>
          </a:prstGeom>
          <a:solidFill>
            <a:srgbClr val="F4F5F7"/>
          </a:solidFill>
          <a:ln w="12700">
            <a:solidFill>
              <a:srgbClr val="D9DCE1"/>
            </a:solidFill>
            <a:prstDash val="solid"/>
          </a:ln>
        </p:spPr>
        <p:txBody>
          <a:bodyPr/>
          <a:lstStyle/>
          <a:p>
            <a:endParaRPr lang="es-AR"/>
          </a:p>
        </p:txBody>
      </p:sp>
      <p:sp>
        <p:nvSpPr>
          <p:cNvPr id="12" name="Text 10"/>
          <p:cNvSpPr/>
          <p:nvPr/>
        </p:nvSpPr>
        <p:spPr>
          <a:xfrm>
            <a:off x="768096" y="3959352"/>
            <a:ext cx="10652760" cy="310896"/>
          </a:xfrm>
          <a:prstGeom prst="rect">
            <a:avLst/>
          </a:prstGeom>
          <a:noFill/>
          <a:ln/>
        </p:spPr>
        <p:txBody>
          <a:bodyPr wrap="square" lIns="0" tIns="0" rIns="0" bIns="0" rtlCol="0" anchor="t"/>
          <a:lstStyle/>
          <a:p>
            <a:pPr marL="0" indent="0" algn="l">
              <a:buNone/>
            </a:pPr>
            <a:r>
              <a:rPr lang="en-US" sz="1400" b="1" dirty="0">
                <a:solidFill>
                  <a:srgbClr val="16243D"/>
                </a:solidFill>
                <a:latin typeface="Arial" pitchFamily="34" charset="0"/>
                <a:ea typeface="Arial" pitchFamily="34" charset="-122"/>
                <a:cs typeface="Arial" pitchFamily="34" charset="-120"/>
              </a:rPr>
              <a:t>Agente — dos métricas</a:t>
            </a:r>
            <a:endParaRPr lang="en-US" sz="1400" dirty="0"/>
          </a:p>
        </p:txBody>
      </p:sp>
      <p:sp>
        <p:nvSpPr>
          <p:cNvPr id="13" name="Text 11"/>
          <p:cNvSpPr/>
          <p:nvPr/>
        </p:nvSpPr>
        <p:spPr>
          <a:xfrm>
            <a:off x="768096" y="4361688"/>
            <a:ext cx="10652760" cy="923544"/>
          </a:xfrm>
          <a:prstGeom prst="rect">
            <a:avLst/>
          </a:prstGeom>
          <a:noFill/>
          <a:ln/>
        </p:spPr>
        <p:txBody>
          <a:bodyPr wrap="square" lIns="0" tIns="0" rIns="0" bIns="0" rtlCol="0" anchor="t"/>
          <a:lstStyle/>
          <a:p>
            <a:pPr marL="0" indent="0" algn="l">
              <a:lnSpc>
                <a:spcPct val="105000"/>
              </a:lnSpc>
              <a:buNone/>
            </a:pPr>
            <a:r>
              <a:rPr lang="en-US" sz="1250" dirty="0">
                <a:solidFill>
                  <a:srgbClr val="444A55"/>
                </a:solidFill>
                <a:latin typeface="Arial" pitchFamily="34" charset="0"/>
                <a:ea typeface="Arial" pitchFamily="34" charset="-122"/>
                <a:cs typeface="Arial" pitchFamily="34" charset="-120"/>
              </a:rPr>
              <a:t>Tasa de éxito de extracción: avisos extraídos / avisos detectados.</a:t>
            </a:r>
            <a:endParaRPr lang="en-US" sz="1250" dirty="0"/>
          </a:p>
          <a:p>
            <a:pPr marL="0" indent="0" algn="l">
              <a:lnSpc>
                <a:spcPct val="105000"/>
              </a:lnSpc>
              <a:buNone/>
            </a:pPr>
            <a:r>
              <a:rPr lang="en-US" sz="1250" dirty="0">
                <a:solidFill>
                  <a:srgbClr val="444A55"/>
                </a:solidFill>
                <a:latin typeface="Arial" pitchFamily="34" charset="0"/>
                <a:ea typeface="Arial" pitchFamily="34" charset="-122"/>
                <a:cs typeface="Arial" pitchFamily="34" charset="-120"/>
              </a:rPr>
              <a:t>Robustez ante cambios de layout: se degrada el HTML imitando cambios reales del portal y se mide qué fracción de los campos sobrevive.</a:t>
            </a:r>
            <a:endParaRPr lang="en-US" sz="1250" dirty="0"/>
          </a:p>
        </p:txBody>
      </p:sp>
      <p:sp>
        <p:nvSpPr>
          <p:cNvPr id="14" name="Text 12"/>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5" name="Text 13"/>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RESULTADOS</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La brecha sintético → real</a:t>
            </a:r>
            <a:endParaRPr lang="en-US" sz="3000" dirty="0"/>
          </a:p>
        </p:txBody>
      </p:sp>
      <p:sp>
        <p:nvSpPr>
          <p:cNvPr id="5" name="Shape 3"/>
          <p:cNvSpPr/>
          <p:nvPr/>
        </p:nvSpPr>
        <p:spPr>
          <a:xfrm>
            <a:off x="566928" y="169164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6" name="Text 4"/>
          <p:cNvSpPr/>
          <p:nvPr/>
        </p:nvSpPr>
        <p:spPr>
          <a:xfrm>
            <a:off x="658368" y="183794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99,5%</a:t>
            </a:r>
            <a:endParaRPr lang="en-US" sz="4000" dirty="0"/>
          </a:p>
        </p:txBody>
      </p:sp>
      <p:sp>
        <p:nvSpPr>
          <p:cNvPr id="7" name="Text 5"/>
          <p:cNvSpPr/>
          <p:nvPr/>
        </p:nvSpPr>
        <p:spPr>
          <a:xfrm>
            <a:off x="694944" y="259323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F1 NER · test sintético</a:t>
            </a:r>
            <a:endParaRPr lang="en-US" sz="1150" dirty="0"/>
          </a:p>
        </p:txBody>
      </p:sp>
      <p:sp>
        <p:nvSpPr>
          <p:cNvPr id="8" name="Shape 6"/>
          <p:cNvSpPr/>
          <p:nvPr/>
        </p:nvSpPr>
        <p:spPr>
          <a:xfrm>
            <a:off x="3376422" y="169164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9" name="Text 7"/>
          <p:cNvSpPr/>
          <p:nvPr/>
        </p:nvSpPr>
        <p:spPr>
          <a:xfrm>
            <a:off x="3467862" y="183794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20,2%</a:t>
            </a:r>
            <a:endParaRPr lang="en-US" sz="4000" dirty="0"/>
          </a:p>
        </p:txBody>
      </p:sp>
      <p:sp>
        <p:nvSpPr>
          <p:cNvPr id="10" name="Text 8"/>
          <p:cNvSpPr/>
          <p:nvPr/>
        </p:nvSpPr>
        <p:spPr>
          <a:xfrm>
            <a:off x="3504438" y="259323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F1 NER · conjunto REAL (gold humano)</a:t>
            </a:r>
            <a:endParaRPr lang="en-US" sz="1150" dirty="0"/>
          </a:p>
        </p:txBody>
      </p:sp>
      <p:sp>
        <p:nvSpPr>
          <p:cNvPr id="11" name="Shape 9"/>
          <p:cNvSpPr/>
          <p:nvPr/>
        </p:nvSpPr>
        <p:spPr>
          <a:xfrm>
            <a:off x="6185916" y="169164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2" name="Text 10"/>
          <p:cNvSpPr/>
          <p:nvPr/>
        </p:nvSpPr>
        <p:spPr>
          <a:xfrm>
            <a:off x="6277356" y="183794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100%</a:t>
            </a:r>
            <a:endParaRPr lang="en-US" sz="4000" dirty="0"/>
          </a:p>
        </p:txBody>
      </p:sp>
      <p:sp>
        <p:nvSpPr>
          <p:cNvPr id="13" name="Text 11"/>
          <p:cNvSpPr/>
          <p:nvPr/>
        </p:nvSpPr>
        <p:spPr>
          <a:xfrm>
            <a:off x="6313932" y="259323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F1 macro clasif. · sintético</a:t>
            </a:r>
            <a:endParaRPr lang="en-US" sz="1150" dirty="0"/>
          </a:p>
        </p:txBody>
      </p:sp>
      <p:sp>
        <p:nvSpPr>
          <p:cNvPr id="14" name="Shape 12"/>
          <p:cNvSpPr/>
          <p:nvPr/>
        </p:nvSpPr>
        <p:spPr>
          <a:xfrm>
            <a:off x="8995410" y="169164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5" name="Text 13"/>
          <p:cNvSpPr/>
          <p:nvPr/>
        </p:nvSpPr>
        <p:spPr>
          <a:xfrm>
            <a:off x="9086850" y="183794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45</a:t>
            </a:r>
            <a:endParaRPr lang="en-US" sz="4000" dirty="0"/>
          </a:p>
        </p:txBody>
      </p:sp>
      <p:sp>
        <p:nvSpPr>
          <p:cNvPr id="16" name="Text 14"/>
          <p:cNvSpPr/>
          <p:nvPr/>
        </p:nvSpPr>
        <p:spPr>
          <a:xfrm>
            <a:off x="9123426" y="259323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avisos revisados a mano</a:t>
            </a:r>
            <a:endParaRPr lang="en-US" sz="1150" dirty="0"/>
          </a:p>
        </p:txBody>
      </p:sp>
      <p:sp>
        <p:nvSpPr>
          <p:cNvPr id="17" name="Text 15"/>
          <p:cNvSpPr/>
          <p:nvPr/>
        </p:nvSpPr>
        <p:spPr>
          <a:xfrm>
            <a:off x="566928" y="3474720"/>
            <a:ext cx="11055096" cy="1051560"/>
          </a:xfrm>
          <a:prstGeom prst="rect">
            <a:avLst/>
          </a:prstGeom>
          <a:noFill/>
          <a:ln/>
        </p:spPr>
        <p:txBody>
          <a:bodyPr wrap="square" lIns="0" tIns="0" rIns="0" bIns="0" rtlCol="0" anchor="t"/>
          <a:lstStyle/>
          <a:p>
            <a:pPr marL="0" indent="0">
              <a:lnSpc>
                <a:spcPct val="105000"/>
              </a:lnSpc>
              <a:buNone/>
            </a:pPr>
            <a:r>
              <a:rPr lang="en-US" sz="1350" dirty="0">
                <a:solidFill>
                  <a:srgbClr val="444A55"/>
                </a:solidFill>
                <a:latin typeface="Arial" pitchFamily="34" charset="0"/>
                <a:ea typeface="Arial" pitchFamily="34" charset="-122"/>
                <a:cs typeface="Arial" pitchFamily="34" charset="-120"/>
              </a:rPr>
              <a:t>Un F1 casi perfecto sobre datos sintéticos no mide qué tan bueno es el modelo, sino qué tan fácil es el test: los avisos salen de plantillas, así que el modelo aprende la plantilla en lugar del concepto. Que la clasificación dé 100% exacto es la señal más clara de eso.</a:t>
            </a:r>
            <a:endParaRPr lang="en-US" sz="1350" dirty="0"/>
          </a:p>
        </p:txBody>
      </p:sp>
      <p:sp>
        <p:nvSpPr>
          <p:cNvPr id="18" name="Shape 16"/>
          <p:cNvSpPr/>
          <p:nvPr/>
        </p:nvSpPr>
        <p:spPr>
          <a:xfrm>
            <a:off x="566928" y="4709160"/>
            <a:ext cx="11055096" cy="914400"/>
          </a:xfrm>
          <a:prstGeom prst="roundRect">
            <a:avLst>
              <a:gd name="adj" fmla="val 6000"/>
            </a:avLst>
          </a:prstGeom>
          <a:solidFill>
            <a:srgbClr val="FBF4E4"/>
          </a:solidFill>
          <a:ln w="12700">
            <a:solidFill>
              <a:srgbClr val="C9A24B"/>
            </a:solidFill>
            <a:prstDash val="solid"/>
          </a:ln>
        </p:spPr>
        <p:txBody>
          <a:bodyPr/>
          <a:lstStyle/>
          <a:p>
            <a:endParaRPr lang="es-AR"/>
          </a:p>
        </p:txBody>
      </p:sp>
      <p:sp>
        <p:nvSpPr>
          <p:cNvPr id="19" name="Text 17"/>
          <p:cNvSpPr/>
          <p:nvPr/>
        </p:nvSpPr>
        <p:spPr>
          <a:xfrm>
            <a:off x="768096" y="4754880"/>
            <a:ext cx="10652760" cy="82296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Contra las etiquetas del LLM el NER daba 0,197; contra el gold humano, 0,202. La conclusión no depende de quién anotó: la mejor evidencia de que el resultado es real y no un artefacto del anotador.</a:t>
            </a:r>
            <a:endParaRPr lang="en-US" sz="1250" dirty="0"/>
          </a:p>
        </p:txBody>
      </p:sp>
      <p:sp>
        <p:nvSpPr>
          <p:cNvPr id="20" name="Text 18"/>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21" name="Text 19"/>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RESULTADOS · NER</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El NER en detalle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766560" cy="2560320"/>
        </p:xfrm>
        <a:graphic>
          <a:graphicData uri="http://schemas.openxmlformats.org/drawingml/2006/table">
            <a:tbl>
              <a:tblPr/>
              <a:tblGrid>
                <a:gridCol w="19202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65760">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Entidad</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F1 sintético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F1 real</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Support real</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AMENITY</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0,242</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351</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ANTIGUEDAD</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0,978</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0,333</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ESTADO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0,986</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0,074</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EXPENSAS</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ORIENTACION</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0,112</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micro avg</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4E8EF"/>
                    </a:solidFill>
                  </a:tcPr>
                </a:tc>
                <a:tc>
                  <a:txBody>
                    <a:bodyPr/>
                    <a:lstStyle/>
                    <a:p>
                      <a:pPr marL="0" indent="0" algn="ctr">
                        <a:buNone/>
                      </a:pPr>
                      <a:r>
                        <a:rPr lang="en-US" sz="1200" b="1" dirty="0">
                          <a:solidFill>
                            <a:srgbClr val="16243D"/>
                          </a:solidFill>
                          <a:latin typeface="Arial" pitchFamily="34" charset="0"/>
                          <a:ea typeface="Arial" pitchFamily="34" charset="-122"/>
                          <a:cs typeface="Arial" pitchFamily="34" charset="-120"/>
                        </a:rPr>
                        <a:t>0,995</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6243D"/>
                          </a:solidFill>
                          <a:latin typeface="Arial" pitchFamily="34" charset="0"/>
                          <a:ea typeface="Arial" pitchFamily="34" charset="-122"/>
                          <a:cs typeface="Arial" pitchFamily="34" charset="-120"/>
                        </a:rPr>
                        <a:t>0,202</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6243D"/>
                          </a:solidFill>
                          <a:latin typeface="Arial" pitchFamily="34" charset="0"/>
                          <a:ea typeface="Arial" pitchFamily="34" charset="-122"/>
                          <a:cs typeface="Arial" pitchFamily="34" charset="-120"/>
                        </a:rPr>
                        <a:t>427</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7680960" y="1691640"/>
            <a:ext cx="3941064" cy="3703320"/>
          </a:xfrm>
          <a:prstGeom prst="roundRect">
            <a:avLst>
              <a:gd name="adj" fmla="val 1481"/>
            </a:avLst>
          </a:prstGeom>
          <a:solidFill>
            <a:srgbClr val="16243D"/>
          </a:solidFill>
          <a:ln/>
        </p:spPr>
        <p:txBody>
          <a:bodyPr/>
          <a:lstStyle/>
          <a:p>
            <a:endParaRPr lang="es-AR"/>
          </a:p>
        </p:txBody>
      </p:sp>
      <p:sp>
        <p:nvSpPr>
          <p:cNvPr id="7" name="Text 4"/>
          <p:cNvSpPr/>
          <p:nvPr/>
        </p:nvSpPr>
        <p:spPr>
          <a:xfrm>
            <a:off x="7882128" y="1874520"/>
            <a:ext cx="3557016" cy="457200"/>
          </a:xfrm>
          <a:prstGeom prst="rect">
            <a:avLst/>
          </a:prstGeom>
          <a:noFill/>
          <a:ln/>
        </p:spPr>
        <p:txBody>
          <a:bodyPr wrap="square" lIns="0" tIns="0" rIns="0" bIns="0" rtlCol="0" anchor="ctr"/>
          <a:lstStyle/>
          <a:p>
            <a:pPr marL="0" indent="0">
              <a:buNone/>
            </a:pPr>
            <a:r>
              <a:rPr lang="en-US" sz="1500" b="1" dirty="0">
                <a:solidFill>
                  <a:srgbClr val="C9A24B"/>
                </a:solidFill>
                <a:latin typeface="Arial" pitchFamily="34" charset="0"/>
                <a:ea typeface="Arial" pitchFamily="34" charset="-122"/>
                <a:cs typeface="Arial" pitchFamily="34" charset="-120"/>
              </a:rPr>
              <a:t>El modo de falla: sobre-etiqueta</a:t>
            </a:r>
            <a:endParaRPr lang="en-US" sz="1500" dirty="0"/>
          </a:p>
        </p:txBody>
      </p:sp>
      <p:sp>
        <p:nvSpPr>
          <p:cNvPr id="8" name="Text 5"/>
          <p:cNvSpPr/>
          <p:nvPr/>
        </p:nvSpPr>
        <p:spPr>
          <a:xfrm>
            <a:off x="7882128" y="2377440"/>
            <a:ext cx="3557016" cy="2834640"/>
          </a:xfrm>
          <a:prstGeom prst="rect">
            <a:avLst/>
          </a:prstGeom>
          <a:noFill/>
          <a:ln/>
        </p:spPr>
        <p:txBody>
          <a:bodyPr wrap="square" lIns="0" tIns="0" rIns="0" bIns="0" rtlCol="0" anchor="t"/>
          <a:lstStyle/>
          <a:p>
            <a:pPr marL="0" indent="0">
              <a:lnSpc>
                <a:spcPct val="108000"/>
              </a:lnSpc>
              <a:buNone/>
            </a:pPr>
            <a:r>
              <a:rPr lang="en-US" sz="1250" dirty="0">
                <a:solidFill>
                  <a:srgbClr val="DCE0E7"/>
                </a:solidFill>
                <a:latin typeface="Arial" pitchFamily="34" charset="0"/>
                <a:ea typeface="Arial" pitchFamily="34" charset="-122"/>
                <a:cs typeface="Arial" pitchFamily="34" charset="-120"/>
              </a:rPr>
              <a:t>Aprendió «sustantivo después de Cuenta con» en vez del vocabulario de amenities.</a:t>
            </a:r>
            <a:endParaRPr lang="en-US" sz="1250" dirty="0"/>
          </a:p>
          <a:p>
            <a:pPr marL="0" indent="0">
              <a:lnSpc>
                <a:spcPct val="108000"/>
              </a:lnSpc>
              <a:buNone/>
            </a:pPr>
            <a:endParaRPr lang="en-US" sz="1250" dirty="0"/>
          </a:p>
          <a:p>
            <a:pPr marL="0" indent="0">
              <a:lnSpc>
                <a:spcPct val="108000"/>
              </a:lnSpc>
              <a:buNone/>
            </a:pPr>
            <a:r>
              <a:rPr lang="en-US" sz="1250" dirty="0">
                <a:solidFill>
                  <a:srgbClr val="DCE0E7"/>
                </a:solidFill>
                <a:latin typeface="Arial" pitchFamily="34" charset="0"/>
                <a:ea typeface="Arial" pitchFamily="34" charset="-122"/>
                <a:cs typeface="Arial" pitchFamily="34" charset="-120"/>
              </a:rPr>
              <a:t>Sobre texto real marca:</a:t>
            </a:r>
            <a:endParaRPr lang="en-US" sz="1250" dirty="0"/>
          </a:p>
          <a:p>
            <a:pPr marL="0" indent="0">
              <a:lnSpc>
                <a:spcPct val="108000"/>
              </a:lnSpc>
              <a:buNone/>
            </a:pPr>
            <a:r>
              <a:rPr lang="en-US" sz="1250" dirty="0">
                <a:solidFill>
                  <a:srgbClr val="DCE0E7"/>
                </a:solidFill>
                <a:latin typeface="Arial" pitchFamily="34" charset="0"/>
                <a:ea typeface="Arial" pitchFamily="34" charset="-122"/>
                <a:cs typeface="Arial" pitchFamily="34" charset="-120"/>
              </a:rPr>
              <a:t>· AMENITY → ventilación</a:t>
            </a:r>
            <a:endParaRPr lang="en-US" sz="1250" dirty="0"/>
          </a:p>
          <a:p>
            <a:pPr marL="0" indent="0">
              <a:lnSpc>
                <a:spcPct val="108000"/>
              </a:lnSpc>
              <a:buNone/>
            </a:pPr>
            <a:r>
              <a:rPr lang="en-US" sz="1250" dirty="0">
                <a:solidFill>
                  <a:srgbClr val="DCE0E7"/>
                </a:solidFill>
                <a:latin typeface="Arial" pitchFamily="34" charset="0"/>
                <a:ea typeface="Arial" pitchFamily="34" charset="-122"/>
                <a:cs typeface="Arial" pitchFamily="34" charset="-120"/>
              </a:rPr>
              <a:t>· AMENITY → universidades</a:t>
            </a:r>
            <a:endParaRPr lang="en-US" sz="1250" dirty="0"/>
          </a:p>
          <a:p>
            <a:pPr marL="0" indent="0">
              <a:lnSpc>
                <a:spcPct val="108000"/>
              </a:lnSpc>
              <a:buNone/>
            </a:pPr>
            <a:r>
              <a:rPr lang="en-US" sz="1250" dirty="0">
                <a:solidFill>
                  <a:srgbClr val="DCE0E7"/>
                </a:solidFill>
                <a:latin typeface="Arial" pitchFamily="34" charset="0"/>
                <a:ea typeface="Arial" pitchFamily="34" charset="-122"/>
                <a:cs typeface="Arial" pitchFamily="34" charset="-120"/>
              </a:rPr>
              <a:t>· ORIENTACION → Scalabrini (el nombre de una calle)</a:t>
            </a:r>
            <a:endParaRPr lang="en-US" sz="1250" dirty="0"/>
          </a:p>
        </p:txBody>
      </p:sp>
      <p:sp>
        <p:nvSpPr>
          <p:cNvPr id="5" name="Text 6"/>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0" name="Text 7"/>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RESULTADOS · AGENTE</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Capa de agente</a:t>
            </a:r>
            <a:endParaRPr lang="en-US" sz="3000" dirty="0"/>
          </a:p>
        </p:txBody>
      </p:sp>
      <p:sp>
        <p:nvSpPr>
          <p:cNvPr id="5" name="Shape 3"/>
          <p:cNvSpPr/>
          <p:nvPr/>
        </p:nvSpPr>
        <p:spPr>
          <a:xfrm>
            <a:off x="566928" y="1737360"/>
            <a:ext cx="3563112" cy="1600200"/>
          </a:xfrm>
          <a:prstGeom prst="roundRect">
            <a:avLst>
              <a:gd name="adj" fmla="val 4571"/>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6" name="Text 4"/>
          <p:cNvSpPr/>
          <p:nvPr/>
        </p:nvSpPr>
        <p:spPr>
          <a:xfrm>
            <a:off x="658368" y="1883664"/>
            <a:ext cx="3380232" cy="768096"/>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83,3%</a:t>
            </a:r>
            <a:endParaRPr lang="en-US" sz="4000" dirty="0"/>
          </a:p>
        </p:txBody>
      </p:sp>
      <p:sp>
        <p:nvSpPr>
          <p:cNvPr id="7" name="Text 5"/>
          <p:cNvSpPr/>
          <p:nvPr/>
        </p:nvSpPr>
        <p:spPr>
          <a:xfrm>
            <a:off x="694944" y="2665476"/>
            <a:ext cx="3307080" cy="576072"/>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Tasa de éxito de extracción · ZonaProp (25 de 30)</a:t>
            </a:r>
            <a:endParaRPr lang="en-US" sz="1150" dirty="0"/>
          </a:p>
        </p:txBody>
      </p:sp>
      <p:sp>
        <p:nvSpPr>
          <p:cNvPr id="8" name="Shape 6"/>
          <p:cNvSpPr/>
          <p:nvPr/>
        </p:nvSpPr>
        <p:spPr>
          <a:xfrm>
            <a:off x="4312920" y="1737360"/>
            <a:ext cx="3563112" cy="1600200"/>
          </a:xfrm>
          <a:prstGeom prst="roundRect">
            <a:avLst>
              <a:gd name="adj" fmla="val 4571"/>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9" name="Text 7"/>
          <p:cNvSpPr/>
          <p:nvPr/>
        </p:nvSpPr>
        <p:spPr>
          <a:xfrm>
            <a:off x="4404360" y="1883664"/>
            <a:ext cx="3380232" cy="768096"/>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87,5%</a:t>
            </a:r>
            <a:endParaRPr lang="en-US" sz="4000" dirty="0"/>
          </a:p>
        </p:txBody>
      </p:sp>
      <p:sp>
        <p:nvSpPr>
          <p:cNvPr id="10" name="Text 8"/>
          <p:cNvSpPr/>
          <p:nvPr/>
        </p:nvSpPr>
        <p:spPr>
          <a:xfrm>
            <a:off x="4440936" y="2665476"/>
            <a:ext cx="3307080" cy="576072"/>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Retención del parser sin los selectores data-qa</a:t>
            </a:r>
            <a:endParaRPr lang="en-US" sz="1150" dirty="0"/>
          </a:p>
        </p:txBody>
      </p:sp>
      <p:sp>
        <p:nvSpPr>
          <p:cNvPr id="11" name="Shape 9"/>
          <p:cNvSpPr/>
          <p:nvPr/>
        </p:nvSpPr>
        <p:spPr>
          <a:xfrm>
            <a:off x="8058912" y="1737360"/>
            <a:ext cx="3563112" cy="1600200"/>
          </a:xfrm>
          <a:prstGeom prst="roundRect">
            <a:avLst>
              <a:gd name="adj" fmla="val 4571"/>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2" name="Text 10"/>
          <p:cNvSpPr/>
          <p:nvPr/>
        </p:nvSpPr>
        <p:spPr>
          <a:xfrm>
            <a:off x="8150352" y="1883664"/>
            <a:ext cx="3380232" cy="768096"/>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100%</a:t>
            </a:r>
            <a:endParaRPr lang="en-US" sz="4000" dirty="0"/>
          </a:p>
        </p:txBody>
      </p:sp>
      <p:sp>
        <p:nvSpPr>
          <p:cNvPr id="13" name="Text 11"/>
          <p:cNvSpPr/>
          <p:nvPr/>
        </p:nvSpPr>
        <p:spPr>
          <a:xfrm>
            <a:off x="8186928" y="2665476"/>
            <a:ext cx="3307080" cy="576072"/>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Retención si el portal migra a clases CSS conocidas</a:t>
            </a:r>
            <a:endParaRPr lang="en-US" sz="1150" dirty="0"/>
          </a:p>
        </p:txBody>
      </p:sp>
      <p:sp>
        <p:nvSpPr>
          <p:cNvPr id="14" name="Text 12"/>
          <p:cNvSpPr/>
          <p:nvPr/>
        </p:nvSpPr>
        <p:spPr>
          <a:xfrm>
            <a:off x="566928" y="3611880"/>
            <a:ext cx="11055096" cy="1234440"/>
          </a:xfrm>
          <a:prstGeom prst="rect">
            <a:avLst/>
          </a:prstGeom>
          <a:noFill/>
          <a:ln/>
        </p:spPr>
        <p:txBody>
          <a:bodyPr wrap="square" lIns="0" tIns="0" rIns="0" bIns="0" rtlCol="0" anchor="t"/>
          <a:lstStyle/>
          <a:p>
            <a:pPr marL="0" indent="0">
              <a:lnSpc>
                <a:spcPct val="105000"/>
              </a:lnSpc>
              <a:buNone/>
            </a:pPr>
            <a:r>
              <a:rPr lang="en-US" sz="1350" dirty="0">
                <a:solidFill>
                  <a:srgbClr val="444A55"/>
                </a:solidFill>
                <a:latin typeface="Arial" pitchFamily="34" charset="0"/>
                <a:ea typeface="Arial" pitchFamily="34" charset="-122"/>
                <a:cs typeface="Arial" pitchFamily="34" charset="-120"/>
              </a:rPr>
              <a:t>Los 5 avisos no extraídos son fichas de emprendimientos, no departamentos individuales: el parser los descarta a propósito. Al desaparecer los data-qa, los campos numéricos y el barrio se recuperan por regex sobre el texto plano; lo único que se pierde es la descripción. Un scraper de un solo nivel habría caído a 0%.</a:t>
            </a:r>
            <a:endParaRPr lang="en-US" sz="1350" dirty="0"/>
          </a:p>
        </p:txBody>
      </p:sp>
      <p:sp>
        <p:nvSpPr>
          <p:cNvPr id="15" name="Text 13"/>
          <p:cNvSpPr/>
          <p:nvPr/>
        </p:nvSpPr>
        <p:spPr>
          <a:xfrm>
            <a:off x="566928" y="4983480"/>
            <a:ext cx="11055096" cy="640080"/>
          </a:xfrm>
          <a:prstGeom prst="rect">
            <a:avLst/>
          </a:prstGeom>
          <a:noFill/>
          <a:ln/>
        </p:spPr>
        <p:txBody>
          <a:bodyPr wrap="square" lIns="0" tIns="0" rIns="0" bIns="0" rtlCol="0" anchor="ctr"/>
          <a:lstStyle/>
          <a:p>
            <a:pPr marL="0" indent="0">
              <a:lnSpc>
                <a:spcPct val="103000"/>
              </a:lnSpc>
              <a:buNone/>
            </a:pPr>
            <a:r>
              <a:rPr lang="en-US" sz="1100" i="1" dirty="0">
                <a:solidFill>
                  <a:srgbClr val="8A909B"/>
                </a:solidFill>
                <a:latin typeface="Arial" pitchFamily="34" charset="0"/>
                <a:ea typeface="Arial" pitchFamily="34" charset="-122"/>
                <a:cs typeface="Arial" pitchFamily="34" charset="-120"/>
              </a:rPr>
              <a:t>El 0,5 del reporte de Argenprop es un artefacto de conteo (contaba como fallo avisos ya obtenidos en una corrida previa). La métrica del agente es el 83,3% de ZonaProp.</a:t>
            </a:r>
            <a:endParaRPr lang="en-US" sz="1100" dirty="0"/>
          </a:p>
        </p:txBody>
      </p:sp>
      <p:sp>
        <p:nvSpPr>
          <p:cNvPr id="16" name="Text 14"/>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7" name="Text 15"/>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HALLAZGOS</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2500" b="1" dirty="0">
                <a:solidFill>
                  <a:srgbClr val="16243D"/>
                </a:solidFill>
                <a:latin typeface="Arial" pitchFamily="34" charset="0"/>
                <a:ea typeface="Arial" pitchFamily="34" charset="-122"/>
                <a:cs typeface="Arial" pitchFamily="34" charset="-120"/>
              </a:rPr>
              <a:t>La clasificación no se pudo evaluar — y ese es el hallazgo</a:t>
            </a:r>
            <a:endParaRPr lang="en-US" sz="2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6309360" cy="2011680"/>
        </p:xfrm>
        <a:graphic>
          <a:graphicData uri="http://schemas.openxmlformats.org/drawingml/2006/table">
            <a:tbl>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02336">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Señal</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LLM propuso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En el texto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Gold humano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extLst>
                  <a:ext uri="{0D108BD9-81ED-4DB2-BD59-A6C34878D82A}">
                    <a16:rowId xmlns:a16="http://schemas.microsoft.com/office/drawing/2014/main" val="10000"/>
                  </a:ext>
                </a:extLst>
              </a:tr>
              <a:tr h="402336">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DUENO_DIRECTO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URGENCIA</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2"/>
                  </a:ext>
                </a:extLst>
              </a:tr>
              <a:tr h="402336">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REFACCION</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200" b="1" dirty="0">
                          <a:solidFill>
                            <a:srgbClr val="16243D"/>
                          </a:solidFill>
                          <a:latin typeface="Arial" pitchFamily="34" charset="0"/>
                          <a:ea typeface="Arial" pitchFamily="34" charset="-122"/>
                          <a:cs typeface="Arial" pitchFamily="34" charset="-120"/>
                        </a:rPr>
                        <a:t>OPORTUNIDAD</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tc>
                  <a:txBody>
                    <a:bodyPr/>
                    <a:lstStyle/>
                    <a:p>
                      <a:pPr marL="0" indent="0" algn="ctr">
                        <a:buNone/>
                      </a:pPr>
                      <a:r>
                        <a:rPr lang="en-US" sz="1200" dirty="0">
                          <a:solidFill>
                            <a:srgbClr val="444A5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4"/>
                  </a:ext>
                </a:extLst>
              </a:tr>
            </a:tbl>
          </a:graphicData>
        </a:graphic>
      </p:graphicFrame>
      <p:sp>
        <p:nvSpPr>
          <p:cNvPr id="6" name="Text 3"/>
          <p:cNvSpPr/>
          <p:nvPr/>
        </p:nvSpPr>
        <p:spPr>
          <a:xfrm>
            <a:off x="566928" y="4160520"/>
            <a:ext cx="6309360" cy="1097280"/>
          </a:xfrm>
          <a:prstGeom prst="rect">
            <a:avLst/>
          </a:prstGeom>
          <a:noFill/>
          <a:ln/>
        </p:spPr>
        <p:txBody>
          <a:bodyPr wrap="square" lIns="0" tIns="0" rIns="0" bIns="0" rtlCol="0" anchor="t"/>
          <a:lstStyle/>
          <a:p>
            <a:pPr marL="0" indent="0">
              <a:lnSpc>
                <a:spcPct val="105000"/>
              </a:lnSpc>
              <a:buNone/>
            </a:pPr>
            <a:r>
              <a:rPr lang="en-US" sz="1250" dirty="0">
                <a:solidFill>
                  <a:srgbClr val="444A55"/>
                </a:solidFill>
                <a:latin typeface="Arial" pitchFamily="34" charset="0"/>
                <a:ea typeface="Arial" pitchFamily="34" charset="-122"/>
                <a:cs typeface="Arial" pitchFamily="34" charset="-120"/>
              </a:rPr>
              <a:t>Con 2 positivos en 45 avisos y tres clases vacías, cualquier F1 sería ruido. No se reporta un número porque no lo hay: se reporta por qué no lo hay.</a:t>
            </a:r>
            <a:endParaRPr lang="en-US" sz="1250" dirty="0"/>
          </a:p>
        </p:txBody>
      </p:sp>
      <p:sp>
        <p:nvSpPr>
          <p:cNvPr id="7" name="Shape 4"/>
          <p:cNvSpPr/>
          <p:nvPr/>
        </p:nvSpPr>
        <p:spPr>
          <a:xfrm>
            <a:off x="7269480" y="1783080"/>
            <a:ext cx="4352544" cy="3474720"/>
          </a:xfrm>
          <a:prstGeom prst="roundRect">
            <a:avLst>
              <a:gd name="adj" fmla="val 1579"/>
            </a:avLst>
          </a:prstGeom>
          <a:solidFill>
            <a:srgbClr val="FBF4E4"/>
          </a:solidFill>
          <a:ln w="12700">
            <a:solidFill>
              <a:srgbClr val="C9A24B"/>
            </a:solidFill>
            <a:prstDash val="solid"/>
          </a:ln>
        </p:spPr>
        <p:txBody>
          <a:bodyPr/>
          <a:lstStyle/>
          <a:p>
            <a:endParaRPr lang="es-AR"/>
          </a:p>
        </p:txBody>
      </p:sp>
      <p:sp>
        <p:nvSpPr>
          <p:cNvPr id="8" name="Text 5"/>
          <p:cNvSpPr/>
          <p:nvPr/>
        </p:nvSpPr>
        <p:spPr>
          <a:xfrm>
            <a:off x="7498080" y="1965960"/>
            <a:ext cx="3922776" cy="365760"/>
          </a:xfrm>
          <a:prstGeom prst="rect">
            <a:avLst/>
          </a:prstGeom>
          <a:noFill/>
          <a:ln/>
        </p:spPr>
        <p:txBody>
          <a:bodyPr wrap="square" lIns="0" tIns="0" rIns="0" bIns="0" rtlCol="0" anchor="ctr"/>
          <a:lstStyle/>
          <a:p>
            <a:pPr marL="0" indent="0">
              <a:buNone/>
            </a:pPr>
            <a:r>
              <a:rPr lang="en-US" sz="1500" b="1" dirty="0">
                <a:solidFill>
                  <a:srgbClr val="6E5518"/>
                </a:solidFill>
                <a:latin typeface="Arial" pitchFamily="34" charset="0"/>
                <a:ea typeface="Arial" pitchFamily="34" charset="-122"/>
                <a:cs typeface="Arial" pitchFamily="34" charset="-120"/>
              </a:rPr>
              <a:t>La causa: muestreo, no modelo</a:t>
            </a:r>
            <a:endParaRPr lang="en-US" sz="1500" dirty="0"/>
          </a:p>
        </p:txBody>
      </p:sp>
      <p:sp>
        <p:nvSpPr>
          <p:cNvPr id="9" name="Text 6"/>
          <p:cNvSpPr/>
          <p:nvPr/>
        </p:nvSpPr>
        <p:spPr>
          <a:xfrm>
            <a:off x="7498080" y="2377440"/>
            <a:ext cx="3922776" cy="2743200"/>
          </a:xfrm>
          <a:prstGeom prst="rect">
            <a:avLst/>
          </a:prstGeom>
          <a:noFill/>
          <a:ln/>
        </p:spPr>
        <p:txBody>
          <a:bodyPr wrap="square" lIns="0" tIns="0" rIns="0" bIns="0" rtlCol="0" anchor="t"/>
          <a:lstStyle/>
          <a:p>
            <a:pPr marL="0" indent="0">
              <a:lnSpc>
                <a:spcPct val="106000"/>
              </a:lnSpc>
              <a:buNone/>
            </a:pPr>
            <a:r>
              <a:rPr lang="en-US" sz="1250" dirty="0">
                <a:solidFill>
                  <a:srgbClr val="6E5518"/>
                </a:solidFill>
                <a:latin typeface="Arial" pitchFamily="34" charset="0"/>
                <a:ea typeface="Arial" pitchFamily="34" charset="-122"/>
                <a:cs typeface="Arial" pitchFamily="34" charset="-120"/>
              </a:rPr>
              <a:t>El 73% de la muestra son avisos de INMOBILIARIAS (llevan matrícula, CUCICBA). Una inmobiliaria no escribe «dueño directo» — es lo contrario de lo que ofrece.</a:t>
            </a:r>
            <a:endParaRPr lang="en-US" sz="1250" dirty="0"/>
          </a:p>
          <a:p>
            <a:pPr marL="0" indent="0">
              <a:lnSpc>
                <a:spcPct val="106000"/>
              </a:lnSpc>
              <a:buNone/>
            </a:pPr>
            <a:endParaRPr lang="en-US" sz="1250" dirty="0"/>
          </a:p>
          <a:p>
            <a:pPr marL="0" indent="0">
              <a:lnSpc>
                <a:spcPct val="106000"/>
              </a:lnSpc>
              <a:buNone/>
            </a:pPr>
            <a:r>
              <a:rPr lang="en-US" sz="1250" dirty="0">
                <a:solidFill>
                  <a:srgbClr val="6E5518"/>
                </a:solidFill>
                <a:latin typeface="Arial" pitchFamily="34" charset="0"/>
                <a:ea typeface="Arial" pitchFamily="34" charset="-122"/>
                <a:cs typeface="Arial" pitchFamily="34" charset="-120"/>
              </a:rPr>
              <a:t>Esas señales viven en avisos de particulares. Evaluarlas requiere muestreo dirigido (ZonaProp publica URLs de búsqueda por palabra clave).</a:t>
            </a:r>
            <a:endParaRPr lang="en-US" sz="1250" dirty="0"/>
          </a:p>
        </p:txBody>
      </p:sp>
      <p:sp>
        <p:nvSpPr>
          <p:cNvPr id="10" name="Text 7"/>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5" name="Text 8"/>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HALLAZGOS</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Calidad del pre-anotador LLM</a:t>
            </a:r>
            <a:endParaRPr lang="en-US" sz="3000" dirty="0"/>
          </a:p>
        </p:txBody>
      </p:sp>
      <p:sp>
        <p:nvSpPr>
          <p:cNvPr id="5" name="Text 3"/>
          <p:cNvSpPr/>
          <p:nvPr/>
        </p:nvSpPr>
        <p:spPr>
          <a:xfrm>
            <a:off x="566928" y="1572768"/>
            <a:ext cx="11055096" cy="411480"/>
          </a:xfrm>
          <a:prstGeom prst="rect">
            <a:avLst/>
          </a:prstGeom>
          <a:noFill/>
          <a:ln/>
        </p:spPr>
        <p:txBody>
          <a:bodyPr wrap="square" lIns="0" tIns="0" rIns="0" bIns="0" rtlCol="0" anchor="ctr"/>
          <a:lstStyle/>
          <a:p>
            <a:pPr marL="0" indent="0">
              <a:buNone/>
            </a:pPr>
            <a:r>
              <a:rPr lang="en-US" sz="1500" dirty="0">
                <a:solidFill>
                  <a:srgbClr val="444A55"/>
                </a:solidFill>
                <a:latin typeface="Arial" pitchFamily="34" charset="0"/>
                <a:ea typeface="Arial" pitchFamily="34" charset="-122"/>
                <a:cs typeface="Arial" pitchFamily="34" charset="-120"/>
              </a:rPr>
              <a:t>Revisión manual de 45 avisos. El modo de falla dominante es la OMISIÓN, no la invención.</a:t>
            </a:r>
            <a:endParaRPr lang="en-US" sz="1500" dirty="0"/>
          </a:p>
        </p:txBody>
      </p:sp>
      <p:sp>
        <p:nvSpPr>
          <p:cNvPr id="6" name="Shape 4"/>
          <p:cNvSpPr/>
          <p:nvPr/>
        </p:nvSpPr>
        <p:spPr>
          <a:xfrm>
            <a:off x="566928" y="219456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7" name="Text 5"/>
          <p:cNvSpPr/>
          <p:nvPr/>
        </p:nvSpPr>
        <p:spPr>
          <a:xfrm>
            <a:off x="658368" y="234086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84</a:t>
            </a:r>
            <a:endParaRPr lang="en-US" sz="4000" dirty="0"/>
          </a:p>
        </p:txBody>
      </p:sp>
      <p:sp>
        <p:nvSpPr>
          <p:cNvPr id="8" name="Text 6"/>
          <p:cNvSpPr/>
          <p:nvPr/>
        </p:nvSpPr>
        <p:spPr>
          <a:xfrm>
            <a:off x="694944" y="309615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entidades que el humano AGREGÓ</a:t>
            </a:r>
            <a:endParaRPr lang="en-US" sz="1150" dirty="0"/>
          </a:p>
        </p:txBody>
      </p:sp>
      <p:sp>
        <p:nvSpPr>
          <p:cNvPr id="9" name="Shape 7"/>
          <p:cNvSpPr/>
          <p:nvPr/>
        </p:nvSpPr>
        <p:spPr>
          <a:xfrm>
            <a:off x="3376422" y="219456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0" name="Text 8"/>
          <p:cNvSpPr/>
          <p:nvPr/>
        </p:nvSpPr>
        <p:spPr>
          <a:xfrm>
            <a:off x="3467862" y="234086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30</a:t>
            </a:r>
            <a:endParaRPr lang="en-US" sz="4000" dirty="0"/>
          </a:p>
        </p:txBody>
      </p:sp>
      <p:sp>
        <p:nvSpPr>
          <p:cNvPr id="11" name="Text 9"/>
          <p:cNvSpPr/>
          <p:nvPr/>
        </p:nvSpPr>
        <p:spPr>
          <a:xfrm>
            <a:off x="3504438" y="309615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entidades que el humano borró</a:t>
            </a:r>
            <a:endParaRPr lang="en-US" sz="1150" dirty="0"/>
          </a:p>
        </p:txBody>
      </p:sp>
      <p:sp>
        <p:nvSpPr>
          <p:cNvPr id="12" name="Shape 10"/>
          <p:cNvSpPr/>
          <p:nvPr/>
        </p:nvSpPr>
        <p:spPr>
          <a:xfrm>
            <a:off x="6185916" y="219456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3" name="Text 11"/>
          <p:cNvSpPr/>
          <p:nvPr/>
        </p:nvSpPr>
        <p:spPr>
          <a:xfrm>
            <a:off x="6277356" y="234086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2,2%</a:t>
            </a:r>
            <a:endParaRPr lang="en-US" sz="4000" dirty="0"/>
          </a:p>
        </p:txBody>
      </p:sp>
      <p:sp>
        <p:nvSpPr>
          <p:cNvPr id="14" name="Text 12"/>
          <p:cNvSpPr/>
          <p:nvPr/>
        </p:nvSpPr>
        <p:spPr>
          <a:xfrm>
            <a:off x="6313932" y="309615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avisos con NER del LLM sin corregir (1 de 45)</a:t>
            </a:r>
            <a:endParaRPr lang="en-US" sz="1150" dirty="0"/>
          </a:p>
        </p:txBody>
      </p:sp>
      <p:sp>
        <p:nvSpPr>
          <p:cNvPr id="15" name="Shape 13"/>
          <p:cNvSpPr/>
          <p:nvPr/>
        </p:nvSpPr>
        <p:spPr>
          <a:xfrm>
            <a:off x="8995410" y="2194560"/>
            <a:ext cx="2626614"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6" name="Text 14"/>
          <p:cNvSpPr/>
          <p:nvPr/>
        </p:nvSpPr>
        <p:spPr>
          <a:xfrm>
            <a:off x="9086850" y="2340864"/>
            <a:ext cx="2443734"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9123426" y="3096158"/>
            <a:ext cx="2370582"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avisos correctos en ambas tareas</a:t>
            </a:r>
            <a:endParaRPr lang="en-US" sz="1150" dirty="0"/>
          </a:p>
        </p:txBody>
      </p:sp>
      <p:sp>
        <p:nvSpPr>
          <p:cNvPr id="18" name="Shape 16"/>
          <p:cNvSpPr/>
          <p:nvPr/>
        </p:nvSpPr>
        <p:spPr>
          <a:xfrm>
            <a:off x="566928" y="4114800"/>
            <a:ext cx="11055096" cy="1417320"/>
          </a:xfrm>
          <a:prstGeom prst="roundRect">
            <a:avLst>
              <a:gd name="adj" fmla="val 3871"/>
            </a:avLst>
          </a:prstGeom>
          <a:solidFill>
            <a:srgbClr val="FBF4E4"/>
          </a:solidFill>
          <a:ln w="12700">
            <a:solidFill>
              <a:srgbClr val="C9A24B"/>
            </a:solidFill>
            <a:prstDash val="solid"/>
          </a:ln>
        </p:spPr>
        <p:txBody>
          <a:bodyPr/>
          <a:lstStyle/>
          <a:p>
            <a:endParaRPr lang="es-AR"/>
          </a:p>
        </p:txBody>
      </p:sp>
      <p:sp>
        <p:nvSpPr>
          <p:cNvPr id="19" name="Text 17"/>
          <p:cNvSpPr/>
          <p:nvPr/>
        </p:nvSpPr>
        <p:spPr>
          <a:xfrm>
            <a:off x="768096" y="4160520"/>
            <a:ext cx="10652760" cy="132588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llama3.2:3b como anotador de NER encuentra menos de la mitad de lo que hay. Entrenar con sus etiquetas sin revisar habría producido un modelo que hereda esa ceguera. La revisión humana no es control de calidad al final: es parte del método.</a:t>
            </a:r>
            <a:endParaRPr lang="en-US" sz="1250" dirty="0"/>
          </a:p>
        </p:txBody>
      </p:sp>
      <p:sp>
        <p:nvSpPr>
          <p:cNvPr id="20" name="Text 18"/>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21" name="Text 19"/>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METODOLOGÍA · ROBUSTEZ</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La historia del anti-bot</a:t>
            </a:r>
            <a:endParaRPr lang="en-US" sz="3000" dirty="0"/>
          </a:p>
        </p:txBody>
      </p:sp>
      <p:sp>
        <p:nvSpPr>
          <p:cNvPr id="5" name="Text 3"/>
          <p:cNvSpPr/>
          <p:nvPr/>
        </p:nvSpPr>
        <p:spPr>
          <a:xfrm>
            <a:off x="566928" y="1554480"/>
            <a:ext cx="11055096" cy="365760"/>
          </a:xfrm>
          <a:prstGeom prst="rect">
            <a:avLst/>
          </a:prstGeom>
          <a:noFill/>
          <a:ln/>
        </p:spPr>
        <p:txBody>
          <a:bodyPr wrap="square" lIns="0" tIns="0" rIns="0" bIns="0" rtlCol="0" anchor="ctr"/>
          <a:lstStyle/>
          <a:p>
            <a:pPr marL="0" indent="0">
              <a:buNone/>
            </a:pPr>
            <a:r>
              <a:rPr lang="en-US" sz="1400" b="1" i="1" dirty="0">
                <a:solidFill>
                  <a:srgbClr val="C9A24B"/>
                </a:solidFill>
                <a:latin typeface="Arial" pitchFamily="34" charset="0"/>
                <a:ea typeface="Arial" pitchFamily="34" charset="-122"/>
                <a:cs typeface="Arial" pitchFamily="34" charset="-120"/>
              </a:rPr>
              <a:t>Es uno de los resultados del trabajo, no un contratiempo. Tres estrategias, en orden.</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57400"/>
          <a:ext cx="11055096" cy="1828800"/>
        </p:xfrm>
        <a:graphic>
          <a:graphicData uri="http://schemas.openxmlformats.org/drawingml/2006/table">
            <a:tbl>
              <a:tblPr/>
              <a:tblGrid>
                <a:gridCol w="4754880">
                  <a:extLst>
                    <a:ext uri="{9D8B030D-6E8A-4147-A177-3AD203B41FA5}">
                      <a16:colId xmlns:a16="http://schemas.microsoft.com/office/drawing/2014/main" val="20000"/>
                    </a:ext>
                  </a:extLst>
                </a:gridCol>
                <a:gridCol w="6300216">
                  <a:extLst>
                    <a:ext uri="{9D8B030D-6E8A-4147-A177-3AD203B41FA5}">
                      <a16:colId xmlns:a16="http://schemas.microsoft.com/office/drawing/2014/main" val="20001"/>
                    </a:ext>
                  </a:extLst>
                </a:gridCol>
              </a:tblGrid>
              <a:tr h="457200">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Estrategia</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16243D"/>
                    </a:solidFill>
                  </a:tcPr>
                </a:tc>
                <a:extLst>
                  <a:ext uri="{0D108BD9-81ED-4DB2-BD59-A6C34878D82A}">
                    <a16:rowId xmlns:a16="http://schemas.microsoft.com/office/drawing/2014/main" val="10000"/>
                  </a:ext>
                </a:extLst>
              </a:tr>
              <a:tr h="457200">
                <a:tc>
                  <a:txBody>
                    <a:bodyPr/>
                    <a:lstStyle/>
                    <a:p>
                      <a:pPr marL="0" indent="0" algn="l">
                        <a:buNone/>
                      </a:pPr>
                      <a:r>
                        <a:rPr lang="en-US" sz="1250" b="1" dirty="0">
                          <a:solidFill>
                            <a:srgbClr val="16243D"/>
                          </a:solidFill>
                          <a:latin typeface="Arial" pitchFamily="34" charset="0"/>
                          <a:ea typeface="Arial" pitchFamily="34" charset="-122"/>
                          <a:cs typeface="Arial" pitchFamily="34" charset="-120"/>
                        </a:rPr>
                        <a:t>1 · Visitar la página de detalle de cada aviso</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Bloqueado — challenge de Cloudflare</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b="1" dirty="0">
                          <a:solidFill>
                            <a:srgbClr val="16243D"/>
                          </a:solidFill>
                          <a:latin typeface="Arial" pitchFamily="34" charset="0"/>
                          <a:ea typeface="Arial" pitchFamily="34" charset="-122"/>
                          <a:cs typeface="Arial" pitchFamily="34" charset="-120"/>
                        </a:rPr>
                        <a:t>2 · Extraer desde las tarjetas del listado</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Funciona — traen la descripción completa, 25-30 avisos por request</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EEF0F3"/>
                    </a:solidFill>
                  </a:tcPr>
                </a:tc>
                <a:extLst>
                  <a:ext uri="{0D108BD9-81ED-4DB2-BD59-A6C34878D82A}">
                    <a16:rowId xmlns:a16="http://schemas.microsoft.com/office/drawing/2014/main" val="10002"/>
                  </a:ext>
                </a:extLst>
              </a:tr>
              <a:tr h="457200">
                <a:tc>
                  <a:txBody>
                    <a:bodyPr/>
                    <a:lstStyle/>
                    <a:p>
                      <a:pPr marL="0" indent="0" algn="l">
                        <a:buNone/>
                      </a:pPr>
                      <a:r>
                        <a:rPr lang="en-US" sz="1250" b="1" dirty="0">
                          <a:solidFill>
                            <a:srgbClr val="16243D"/>
                          </a:solidFill>
                          <a:latin typeface="Arial" pitchFamily="34" charset="0"/>
                          <a:ea typeface="Arial" pitchFamily="34" charset="-122"/>
                          <a:cs typeface="Arial" pitchFamily="34" charset="-120"/>
                        </a:rPr>
                        <a:t>3 · Recorrer búsquedas distintas en vez de paginar</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444A55"/>
                          </a:solidFill>
                          <a:latin typeface="Arial" pitchFamily="34" charset="0"/>
                          <a:ea typeface="Arial" pitchFamily="34" charset="-122"/>
                          <a:cs typeface="Arial" pitchFamily="34" charset="-120"/>
                        </a:rPr>
                        <a:t>Bloqueado, pero no por lo que parecía</a:t>
                      </a:r>
                      <a:endParaRPr lang="en-US" sz="1250" dirty="0">
                        <a:latin typeface="Arial" charset="0"/>
                        <a:ea typeface="Arial" charset="0"/>
                        <a:cs typeface="Arial" charset="0"/>
                      </a:endParaRPr>
                    </a:p>
                  </a:txBody>
                  <a:tcPr anchor="ctr">
                    <a:lnL w="12700" cap="flat" cmpd="sng" algn="ctr">
                      <a:solidFill>
                        <a:srgbClr val="D9DCE1"/>
                      </a:solidFill>
                      <a:prstDash val="solid"/>
                      <a:round/>
                      <a:headEnd type="none" w="med" len="med"/>
                      <a:tailEnd type="none" w="med" len="med"/>
                    </a:lnL>
                    <a:lnR w="12700" cap="flat" cmpd="sng" algn="ctr">
                      <a:solidFill>
                        <a:srgbClr val="D9DCE1"/>
                      </a:solidFill>
                      <a:prstDash val="solid"/>
                      <a:round/>
                      <a:headEnd type="none" w="med" len="med"/>
                      <a:tailEnd type="none" w="med" len="med"/>
                    </a:lnR>
                    <a:lnT w="12700" cap="flat" cmpd="sng" algn="ctr">
                      <a:solidFill>
                        <a:srgbClr val="D9DCE1"/>
                      </a:solidFill>
                      <a:prstDash val="solid"/>
                      <a:round/>
                      <a:headEnd type="none" w="med" len="med"/>
                      <a:tailEnd type="none" w="med" len="med"/>
                    </a:lnT>
                    <a:lnB w="12700"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566928" y="3977640"/>
            <a:ext cx="11055096" cy="777240"/>
          </a:xfrm>
          <a:prstGeom prst="roundRect">
            <a:avLst>
              <a:gd name="adj" fmla="val 7059"/>
            </a:avLst>
          </a:prstGeom>
          <a:solidFill>
            <a:srgbClr val="FBF4E4"/>
          </a:solidFill>
          <a:ln w="12700">
            <a:solidFill>
              <a:srgbClr val="C9A24B"/>
            </a:solidFill>
            <a:prstDash val="solid"/>
          </a:ln>
        </p:spPr>
        <p:txBody>
          <a:bodyPr/>
          <a:lstStyle/>
          <a:p>
            <a:endParaRPr lang="es-AR"/>
          </a:p>
        </p:txBody>
      </p:sp>
      <p:sp>
        <p:nvSpPr>
          <p:cNvPr id="8" name="Text 5"/>
          <p:cNvSpPr/>
          <p:nvPr/>
        </p:nvSpPr>
        <p:spPr>
          <a:xfrm>
            <a:off x="768096" y="4023360"/>
            <a:ext cx="10652760" cy="68580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El bloqueo es por SESIÓN, no por URL: la misma URL devolvió 30 avisos aislada y 0 dentro de la corrida. Subir los delays a 40 s no cambió nada.</a:t>
            </a:r>
            <a:endParaRPr lang="en-US" sz="1250" dirty="0"/>
          </a:p>
        </p:txBody>
      </p:sp>
      <p:sp>
        <p:nvSpPr>
          <p:cNvPr id="9" name="Text 6"/>
          <p:cNvSpPr/>
          <p:nvPr/>
        </p:nvSpPr>
        <p:spPr>
          <a:xfrm>
            <a:off x="566928" y="4892040"/>
            <a:ext cx="11055096" cy="960120"/>
          </a:xfrm>
          <a:prstGeom prst="rect">
            <a:avLst/>
          </a:prstGeom>
          <a:noFill/>
          <a:ln/>
        </p:spPr>
        <p:txBody>
          <a:bodyPr wrap="square" lIns="0" tIns="0" rIns="0" bIns="0" rtlCol="0" anchor="t"/>
          <a:lstStyle/>
          <a:p>
            <a:pPr marL="0" indent="0">
              <a:lnSpc>
                <a:spcPct val="105000"/>
              </a:lnSpc>
              <a:buNone/>
            </a:pPr>
            <a:r>
              <a:rPr lang="en-US" sz="1250" b="1" dirty="0">
                <a:solidFill>
                  <a:srgbClr val="16243D"/>
                </a:solidFill>
                <a:latin typeface="Arial" pitchFamily="34" charset="0"/>
                <a:ea typeface="Arial" pitchFamily="34" charset="-122"/>
                <a:cs typeface="Arial" pitchFamily="34" charset="-120"/>
              </a:rPr>
              <a:t>Dónde se puso el límite (decisión ética): </a:t>
            </a:r>
            <a:r>
              <a:rPr lang="en-US" sz="1250" dirty="0">
                <a:solidFill>
                  <a:srgbClr val="444A55"/>
                </a:solidFill>
                <a:latin typeface="Arial" pitchFamily="34" charset="0"/>
                <a:ea typeface="Arial" pitchFamily="34" charset="-122"/>
                <a:cs typeface="Arial" pitchFamily="34" charset="-120"/>
              </a:rPr>
              <a:t>seguir requería proxies rotativos, fingerprints falsos o resolver CAPTCHA — evadir un control de seguridad de un tercero. No se hizo. La salida fue cambiar de fuente: Argenprop habilita el acceso automatizado en su robots.txt, y ese tope se valida en el código.</a:t>
            </a:r>
            <a:endParaRPr lang="en-US" sz="1250" dirty="0"/>
          </a:p>
        </p:txBody>
      </p:sp>
      <p:sp>
        <p:nvSpPr>
          <p:cNvPr id="10" name="Text 7"/>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1" name="Text 8"/>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LA OBJECIÓN MÁS RAZONABLE</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2600" b="1" dirty="0">
                <a:solidFill>
                  <a:srgbClr val="16243D"/>
                </a:solidFill>
                <a:latin typeface="Arial" pitchFamily="34" charset="0"/>
                <a:ea typeface="Arial" pitchFamily="34" charset="-122"/>
                <a:cs typeface="Arial" pitchFamily="34" charset="-120"/>
              </a:rPr>
              <a:t>«¿Y si el portal ya publica los atributos?»</a:t>
            </a:r>
            <a:endParaRPr lang="en-US" sz="2600" dirty="0"/>
          </a:p>
        </p:txBody>
      </p:sp>
      <p:sp>
        <p:nvSpPr>
          <p:cNvPr id="5" name="Text 3"/>
          <p:cNvSpPr/>
          <p:nvPr/>
        </p:nvSpPr>
        <p:spPr>
          <a:xfrm>
            <a:off x="566928" y="1572768"/>
            <a:ext cx="11055096" cy="411480"/>
          </a:xfrm>
          <a:prstGeom prst="rect">
            <a:avLst/>
          </a:prstGeom>
          <a:noFill/>
          <a:ln/>
        </p:spPr>
        <p:txBody>
          <a:bodyPr wrap="square" lIns="0" tIns="0" rIns="0" bIns="0" rtlCol="0" anchor="ctr"/>
          <a:lstStyle/>
          <a:p>
            <a:pPr marL="0" indent="0">
              <a:buNone/>
            </a:pPr>
            <a:r>
              <a:rPr lang="en-US" sz="1400" dirty="0">
                <a:solidFill>
                  <a:srgbClr val="444A55"/>
                </a:solidFill>
                <a:latin typeface="Arial" pitchFamily="34" charset="0"/>
                <a:ea typeface="Arial" pitchFamily="34" charset="-122"/>
                <a:cs typeface="Arial" pitchFamily="34" charset="-120"/>
              </a:rPr>
              <a:t>Argenprop sí expone una ficha estructurada en cada detalle. Así que se midió, con el mismo vocabulario para las dos fuentes.</a:t>
            </a:r>
            <a:endParaRPr lang="en-US" sz="1400" dirty="0"/>
          </a:p>
        </p:txBody>
      </p:sp>
      <p:sp>
        <p:nvSpPr>
          <p:cNvPr id="6" name="Shape 4"/>
          <p:cNvSpPr/>
          <p:nvPr/>
        </p:nvSpPr>
        <p:spPr>
          <a:xfrm>
            <a:off x="566928" y="2194560"/>
            <a:ext cx="3563112"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7" name="Text 5"/>
          <p:cNvSpPr/>
          <p:nvPr/>
        </p:nvSpPr>
        <p:spPr>
          <a:xfrm>
            <a:off x="658368" y="2340864"/>
            <a:ext cx="3380232"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18</a:t>
            </a:r>
            <a:endParaRPr lang="en-US" sz="4000" dirty="0"/>
          </a:p>
        </p:txBody>
      </p:sp>
      <p:sp>
        <p:nvSpPr>
          <p:cNvPr id="8" name="Text 6"/>
          <p:cNvSpPr/>
          <p:nvPr/>
        </p:nvSpPr>
        <p:spPr>
          <a:xfrm>
            <a:off x="694944" y="3096158"/>
            <a:ext cx="3307080"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amenities SÓLO en la descripción</a:t>
            </a:r>
            <a:endParaRPr lang="en-US" sz="1150" dirty="0"/>
          </a:p>
        </p:txBody>
      </p:sp>
      <p:sp>
        <p:nvSpPr>
          <p:cNvPr id="9" name="Shape 7"/>
          <p:cNvSpPr/>
          <p:nvPr/>
        </p:nvSpPr>
        <p:spPr>
          <a:xfrm>
            <a:off x="4312920" y="2194560"/>
            <a:ext cx="3563112"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0" name="Text 8"/>
          <p:cNvSpPr/>
          <p:nvPr/>
        </p:nvSpPr>
        <p:spPr>
          <a:xfrm>
            <a:off x="4404360" y="2340864"/>
            <a:ext cx="3380232"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13</a:t>
            </a:r>
            <a:endParaRPr lang="en-US" sz="4000" dirty="0"/>
          </a:p>
        </p:txBody>
      </p:sp>
      <p:sp>
        <p:nvSpPr>
          <p:cNvPr id="11" name="Text 9"/>
          <p:cNvSpPr/>
          <p:nvPr/>
        </p:nvSpPr>
        <p:spPr>
          <a:xfrm>
            <a:off x="4440936" y="3096158"/>
            <a:ext cx="3307080"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amenities SÓLO en la ficha</a:t>
            </a:r>
            <a:endParaRPr lang="en-US" sz="1150" dirty="0"/>
          </a:p>
        </p:txBody>
      </p:sp>
      <p:sp>
        <p:nvSpPr>
          <p:cNvPr id="12" name="Shape 10"/>
          <p:cNvSpPr/>
          <p:nvPr/>
        </p:nvSpPr>
        <p:spPr>
          <a:xfrm>
            <a:off x="8058912" y="2194560"/>
            <a:ext cx="3563112" cy="1554480"/>
          </a:xfrm>
          <a:prstGeom prst="roundRect">
            <a:avLst>
              <a:gd name="adj" fmla="val 4706"/>
            </a:avLst>
          </a:prstGeom>
          <a:solidFill>
            <a:srgbClr val="16243D"/>
          </a:solidFill>
          <a:ln/>
          <a:effectLst>
            <a:outerShdw blurRad="76200" dist="25400" dir="5400000" algn="bl" rotWithShape="0">
              <a:srgbClr val="B8BDC7">
                <a:alpha val="50000"/>
              </a:srgbClr>
            </a:outerShdw>
          </a:effectLst>
        </p:spPr>
        <p:txBody>
          <a:bodyPr/>
          <a:lstStyle/>
          <a:p>
            <a:endParaRPr lang="es-AR"/>
          </a:p>
        </p:txBody>
      </p:sp>
      <p:sp>
        <p:nvSpPr>
          <p:cNvPr id="13" name="Text 11"/>
          <p:cNvSpPr/>
          <p:nvPr/>
        </p:nvSpPr>
        <p:spPr>
          <a:xfrm>
            <a:off x="8150352" y="2340864"/>
            <a:ext cx="3380232" cy="746150"/>
          </a:xfrm>
          <a:prstGeom prst="rect">
            <a:avLst/>
          </a:prstGeom>
          <a:noFill/>
          <a:ln/>
        </p:spPr>
        <p:txBody>
          <a:bodyPr wrap="square" lIns="0" tIns="0" rIns="0" bIns="0" rtlCol="0" anchor="ctr"/>
          <a:lstStyle/>
          <a:p>
            <a:pPr marL="0" indent="0" algn="ctr">
              <a:buNone/>
            </a:pPr>
            <a:r>
              <a:rPr lang="en-US" sz="4000" b="1" dirty="0">
                <a:solidFill>
                  <a:srgbClr val="C9A24B"/>
                </a:solidFill>
                <a:latin typeface="Arial" pitchFamily="34" charset="0"/>
                <a:ea typeface="Arial" pitchFamily="34" charset="-122"/>
                <a:cs typeface="Arial" pitchFamily="34" charset="-120"/>
              </a:rPr>
              <a:t>50%</a:t>
            </a:r>
            <a:endParaRPr lang="en-US" sz="4000" dirty="0"/>
          </a:p>
        </p:txBody>
      </p:sp>
      <p:sp>
        <p:nvSpPr>
          <p:cNvPr id="14" name="Text 12"/>
          <p:cNvSpPr/>
          <p:nvPr/>
        </p:nvSpPr>
        <p:spPr>
          <a:xfrm>
            <a:off x="8186928" y="3096158"/>
            <a:ext cx="3307080" cy="559613"/>
          </a:xfrm>
          <a:prstGeom prst="rect">
            <a:avLst/>
          </a:prstGeom>
          <a:noFill/>
          <a:ln/>
        </p:spPr>
        <p:txBody>
          <a:bodyPr wrap="square" lIns="0" tIns="0" rIns="0" bIns="0" rtlCol="0" anchor="t"/>
          <a:lstStyle/>
          <a:p>
            <a:pPr marL="0" indent="0" algn="ctr">
              <a:buNone/>
            </a:pPr>
            <a:r>
              <a:rPr lang="en-US" sz="1150" dirty="0">
                <a:solidFill>
                  <a:srgbClr val="FFFFFF"/>
                </a:solidFill>
                <a:latin typeface="Arial" pitchFamily="34" charset="0"/>
                <a:ea typeface="Arial" pitchFamily="34" charset="-122"/>
                <a:cs typeface="Arial" pitchFamily="34" charset="-120"/>
              </a:rPr>
              <a:t>avisos donde la descripción aporta algo que la ficha no tiene</a:t>
            </a:r>
            <a:endParaRPr lang="en-US" sz="1150" dirty="0"/>
          </a:p>
        </p:txBody>
      </p:sp>
      <p:sp>
        <p:nvSpPr>
          <p:cNvPr id="15" name="Shape 13"/>
          <p:cNvSpPr/>
          <p:nvPr/>
        </p:nvSpPr>
        <p:spPr>
          <a:xfrm>
            <a:off x="566928" y="4023360"/>
            <a:ext cx="11055096" cy="640080"/>
          </a:xfrm>
          <a:prstGeom prst="roundRect">
            <a:avLst>
              <a:gd name="adj" fmla="val 8571"/>
            </a:avLst>
          </a:prstGeom>
          <a:solidFill>
            <a:srgbClr val="FBF4E4"/>
          </a:solidFill>
          <a:ln w="12700">
            <a:solidFill>
              <a:srgbClr val="C9A24B"/>
            </a:solidFill>
            <a:prstDash val="solid"/>
          </a:ln>
        </p:spPr>
        <p:txBody>
          <a:bodyPr/>
          <a:lstStyle/>
          <a:p>
            <a:endParaRPr lang="es-AR"/>
          </a:p>
        </p:txBody>
      </p:sp>
      <p:sp>
        <p:nvSpPr>
          <p:cNvPr id="16" name="Text 14"/>
          <p:cNvSpPr/>
          <p:nvPr/>
        </p:nvSpPr>
        <p:spPr>
          <a:xfrm>
            <a:off x="768096" y="4069080"/>
            <a:ext cx="10652760" cy="54864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Complementarias, no redundantes: ninguna fuente contiene a la otra.</a:t>
            </a:r>
            <a:endParaRPr lang="en-US" sz="1250" dirty="0"/>
          </a:p>
        </p:txBody>
      </p:sp>
      <p:sp>
        <p:nvSpPr>
          <p:cNvPr id="17" name="Text 15"/>
          <p:cNvSpPr/>
          <p:nvPr/>
        </p:nvSpPr>
        <p:spPr>
          <a:xfrm>
            <a:off x="566928" y="4800600"/>
            <a:ext cx="11055096" cy="868680"/>
          </a:xfrm>
          <a:prstGeom prst="rect">
            <a:avLst/>
          </a:prstGeom>
          <a:noFill/>
          <a:ln/>
        </p:spPr>
        <p:txBody>
          <a:bodyPr wrap="square" lIns="0" tIns="0" rIns="0" bIns="0" rtlCol="0" anchor="t"/>
          <a:lstStyle/>
          <a:p>
            <a:pPr marL="0" indent="0">
              <a:lnSpc>
                <a:spcPct val="105000"/>
              </a:lnSpc>
              <a:buNone/>
            </a:pPr>
            <a:r>
              <a:rPr lang="en-US" sz="1250" b="1" dirty="0">
                <a:solidFill>
                  <a:srgbClr val="16243D"/>
                </a:solidFill>
                <a:latin typeface="Arial" pitchFamily="34" charset="0"/>
                <a:ea typeface="Arial" pitchFamily="34" charset="-122"/>
                <a:cs typeface="Arial" pitchFamily="34" charset="-120"/>
              </a:rPr>
              <a:t>Costo de adquisición:  </a:t>
            </a:r>
            <a:r>
              <a:rPr lang="en-US" sz="1250" dirty="0">
                <a:solidFill>
                  <a:srgbClr val="444A55"/>
                </a:solidFill>
                <a:latin typeface="Arial" pitchFamily="34" charset="0"/>
                <a:ea typeface="Arial" pitchFamily="34" charset="-122"/>
                <a:cs typeface="Arial" pitchFamily="34" charset="-120"/>
              </a:rPr>
              <a:t>la ficha vive en el detalle (1 request/aviso); la descripción viene en el listado (20-30/request). Para 15.000 avisos: 15.000 vs 750 requests.    </a:t>
            </a:r>
            <a:r>
              <a:rPr lang="en-US" sz="1250" b="1" dirty="0">
                <a:solidFill>
                  <a:srgbClr val="16243D"/>
                </a:solidFill>
                <a:latin typeface="Arial" pitchFamily="34" charset="0"/>
                <a:ea typeface="Arial" pitchFamily="34" charset="-122"/>
                <a:cs typeface="Arial" pitchFamily="34" charset="-120"/>
              </a:rPr>
              <a:t>Granularidad:  </a:t>
            </a:r>
            <a:r>
              <a:rPr lang="en-US" sz="1250" dirty="0">
                <a:solidFill>
                  <a:srgbClr val="444A55"/>
                </a:solidFill>
                <a:latin typeface="Arial" pitchFamily="34" charset="0"/>
                <a:ea typeface="Arial" pitchFamily="34" charset="-122"/>
                <a:cs typeface="Arial" pitchFamily="34" charset="-120"/>
              </a:rPr>
              <a:t>la ficha dice «Pileta»; el texto dice «pileta climatizada».</a:t>
            </a:r>
            <a:endParaRPr lang="en-US" sz="1250" dirty="0"/>
          </a:p>
        </p:txBody>
      </p:sp>
      <p:sp>
        <p:nvSpPr>
          <p:cNvPr id="18" name="Text 16"/>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9" name="Text 17"/>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HONESTIDAD METODOLÓGICA</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Limitaciones</a:t>
            </a:r>
            <a:endParaRPr lang="en-US" sz="3000" dirty="0"/>
          </a:p>
        </p:txBody>
      </p:sp>
      <p:sp>
        <p:nvSpPr>
          <p:cNvPr id="5" name="Shape 3"/>
          <p:cNvSpPr/>
          <p:nvPr/>
        </p:nvSpPr>
        <p:spPr>
          <a:xfrm>
            <a:off x="566928" y="1700784"/>
            <a:ext cx="109728" cy="109728"/>
          </a:xfrm>
          <a:prstGeom prst="rect">
            <a:avLst/>
          </a:prstGeom>
          <a:solidFill>
            <a:srgbClr val="C9A24B"/>
          </a:solidFill>
          <a:ln/>
        </p:spPr>
        <p:txBody>
          <a:bodyPr/>
          <a:lstStyle/>
          <a:p>
            <a:endParaRPr lang="es-AR"/>
          </a:p>
        </p:txBody>
      </p:sp>
      <p:sp>
        <p:nvSpPr>
          <p:cNvPr id="6" name="Text 4"/>
          <p:cNvSpPr/>
          <p:nvPr/>
        </p:nvSpPr>
        <p:spPr>
          <a:xfrm>
            <a:off x="841248" y="1649682"/>
            <a:ext cx="10780776" cy="392765"/>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Volumen del scrape.  </a:t>
            </a:r>
            <a:r>
              <a:rPr lang="en-US" sz="1300" dirty="0">
                <a:solidFill>
                  <a:srgbClr val="444A55"/>
                </a:solidFill>
                <a:latin typeface="Arial" pitchFamily="34" charset="0"/>
                <a:ea typeface="Arial" pitchFamily="34" charset="-122"/>
                <a:cs typeface="Arial" pitchFamily="34" charset="-120"/>
              </a:rPr>
              <a:t>la propuesta apuntaba a 8.000–15.000 avisos; se trabajó con 105 (80 de Argenprop + 25 de ZonaProp). El anti-bot es la causa, y está medido.</a:t>
            </a:r>
            <a:endParaRPr lang="en-US" sz="1300" dirty="0"/>
          </a:p>
        </p:txBody>
      </p:sp>
      <p:sp>
        <p:nvSpPr>
          <p:cNvPr id="7" name="Shape 5"/>
          <p:cNvSpPr/>
          <p:nvPr/>
        </p:nvSpPr>
        <p:spPr>
          <a:xfrm>
            <a:off x="566928" y="2487168"/>
            <a:ext cx="109728" cy="109728"/>
          </a:xfrm>
          <a:prstGeom prst="rect">
            <a:avLst/>
          </a:prstGeom>
          <a:solidFill>
            <a:srgbClr val="C9A24B"/>
          </a:solidFill>
          <a:ln/>
        </p:spPr>
        <p:txBody>
          <a:bodyPr/>
          <a:lstStyle/>
          <a:p>
            <a:endParaRPr lang="es-AR"/>
          </a:p>
        </p:txBody>
      </p:sp>
      <p:sp>
        <p:nvSpPr>
          <p:cNvPr id="8" name="Text 6"/>
          <p:cNvSpPr/>
          <p:nvPr/>
        </p:nvSpPr>
        <p:spPr>
          <a:xfrm>
            <a:off x="841248" y="2444611"/>
            <a:ext cx="10780776" cy="311323"/>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Entrenamiento sobre datos sintéticos.  </a:t>
            </a:r>
            <a:r>
              <a:rPr lang="en-US" sz="1300" dirty="0">
                <a:solidFill>
                  <a:srgbClr val="444A55"/>
                </a:solidFill>
                <a:latin typeface="Arial" pitchFamily="34" charset="0"/>
                <a:ea typeface="Arial" pitchFamily="34" charset="-122"/>
                <a:cs typeface="Arial" pitchFamily="34" charset="-120"/>
              </a:rPr>
              <a:t>con el conjunto real como evaluación externa.</a:t>
            </a:r>
            <a:endParaRPr lang="en-US" sz="1300" dirty="0"/>
          </a:p>
        </p:txBody>
      </p:sp>
      <p:sp>
        <p:nvSpPr>
          <p:cNvPr id="9" name="Shape 7"/>
          <p:cNvSpPr/>
          <p:nvPr/>
        </p:nvSpPr>
        <p:spPr>
          <a:xfrm>
            <a:off x="566928" y="3273552"/>
            <a:ext cx="109728" cy="109728"/>
          </a:xfrm>
          <a:prstGeom prst="rect">
            <a:avLst/>
          </a:prstGeom>
          <a:solidFill>
            <a:srgbClr val="C9A24B"/>
          </a:solidFill>
          <a:ln/>
        </p:spPr>
        <p:txBody>
          <a:bodyPr/>
          <a:lstStyle/>
          <a:p>
            <a:endParaRPr lang="es-AR"/>
          </a:p>
        </p:txBody>
      </p:sp>
      <p:sp>
        <p:nvSpPr>
          <p:cNvPr id="10" name="Text 8"/>
          <p:cNvSpPr/>
          <p:nvPr/>
        </p:nvSpPr>
        <p:spPr>
          <a:xfrm>
            <a:off x="841248" y="3222450"/>
            <a:ext cx="10780776" cy="237744"/>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Anotación semiautomática con un LLM chico (4 GB).  </a:t>
            </a:r>
            <a:r>
              <a:rPr lang="en-US" sz="1300" dirty="0">
                <a:solidFill>
                  <a:srgbClr val="444A55"/>
                </a:solidFill>
                <a:latin typeface="Arial" pitchFamily="34" charset="0"/>
                <a:ea typeface="Arial" pitchFamily="34" charset="-122"/>
                <a:cs typeface="Arial" pitchFamily="34" charset="-120"/>
              </a:rPr>
              <a:t>encuentra menos de la mitad de las entidades; por eso la revisión manual.</a:t>
            </a:r>
            <a:endParaRPr lang="en-US" sz="1300" dirty="0"/>
          </a:p>
        </p:txBody>
      </p:sp>
      <p:sp>
        <p:nvSpPr>
          <p:cNvPr id="11" name="Shape 9"/>
          <p:cNvSpPr/>
          <p:nvPr/>
        </p:nvSpPr>
        <p:spPr>
          <a:xfrm>
            <a:off x="566928" y="4059936"/>
            <a:ext cx="109728" cy="109728"/>
          </a:xfrm>
          <a:prstGeom prst="rect">
            <a:avLst/>
          </a:prstGeom>
          <a:solidFill>
            <a:srgbClr val="C9A24B"/>
          </a:solidFill>
          <a:ln/>
        </p:spPr>
        <p:txBody>
          <a:bodyPr/>
          <a:lstStyle/>
          <a:p>
            <a:endParaRPr lang="es-AR"/>
          </a:p>
        </p:txBody>
      </p:sp>
      <p:sp>
        <p:nvSpPr>
          <p:cNvPr id="12" name="Text 10"/>
          <p:cNvSpPr/>
          <p:nvPr/>
        </p:nvSpPr>
        <p:spPr>
          <a:xfrm>
            <a:off x="841248" y="4017380"/>
            <a:ext cx="10780776" cy="237744"/>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La clasificación no pudo validarse.  </a:t>
            </a:r>
            <a:r>
              <a:rPr lang="en-US" sz="1300" dirty="0">
                <a:solidFill>
                  <a:srgbClr val="444A55"/>
                </a:solidFill>
                <a:latin typeface="Arial" pitchFamily="34" charset="0"/>
                <a:ea typeface="Arial" pitchFamily="34" charset="-122"/>
                <a:cs typeface="Arial" pitchFamily="34" charset="-120"/>
              </a:rPr>
              <a:t>por composición de la muestra (73% inmobiliarias).</a:t>
            </a:r>
            <a:endParaRPr lang="en-US" sz="1300" dirty="0"/>
          </a:p>
        </p:txBody>
      </p:sp>
      <p:sp>
        <p:nvSpPr>
          <p:cNvPr id="13" name="Shape 11"/>
          <p:cNvSpPr/>
          <p:nvPr/>
        </p:nvSpPr>
        <p:spPr>
          <a:xfrm>
            <a:off x="566928" y="4846320"/>
            <a:ext cx="109728" cy="109728"/>
          </a:xfrm>
          <a:prstGeom prst="rect">
            <a:avLst/>
          </a:prstGeom>
          <a:solidFill>
            <a:srgbClr val="C9A24B"/>
          </a:solidFill>
          <a:ln/>
        </p:spPr>
        <p:txBody>
          <a:bodyPr/>
          <a:lstStyle/>
          <a:p>
            <a:endParaRPr lang="es-AR"/>
          </a:p>
        </p:txBody>
      </p:sp>
      <p:sp>
        <p:nvSpPr>
          <p:cNvPr id="14" name="Text 12"/>
          <p:cNvSpPr/>
          <p:nvPr/>
        </p:nvSpPr>
        <p:spPr>
          <a:xfrm>
            <a:off x="841248" y="4803764"/>
            <a:ext cx="10780776" cy="405073"/>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Desajuste de criterio declarado.  </a:t>
            </a:r>
            <a:r>
              <a:rPr lang="en-US" sz="1300" dirty="0">
                <a:solidFill>
                  <a:srgbClr val="444A55"/>
                </a:solidFill>
                <a:latin typeface="Arial" pitchFamily="34" charset="0"/>
                <a:ea typeface="Arial" pitchFamily="34" charset="-122"/>
                <a:cs typeface="Arial" pitchFamily="34" charset="-120"/>
              </a:rPr>
              <a:t>el gold humano excluye «oportunidad» de relleno; el modelo la aprendió como positiva. Se declara para que no se lea como falla suya.</a:t>
            </a:r>
            <a:endParaRPr lang="en-US" sz="1300" dirty="0"/>
          </a:p>
        </p:txBody>
      </p:sp>
      <p:sp>
        <p:nvSpPr>
          <p:cNvPr id="15" name="Shape 13"/>
          <p:cNvSpPr/>
          <p:nvPr/>
        </p:nvSpPr>
        <p:spPr>
          <a:xfrm>
            <a:off x="566928" y="5632704"/>
            <a:ext cx="109728" cy="109728"/>
          </a:xfrm>
          <a:prstGeom prst="rect">
            <a:avLst/>
          </a:prstGeom>
          <a:solidFill>
            <a:srgbClr val="C9A24B"/>
          </a:solidFill>
          <a:ln/>
        </p:spPr>
        <p:txBody>
          <a:bodyPr/>
          <a:lstStyle/>
          <a:p>
            <a:endParaRPr lang="es-AR"/>
          </a:p>
        </p:txBody>
      </p:sp>
      <p:sp>
        <p:nvSpPr>
          <p:cNvPr id="16" name="Text 14"/>
          <p:cNvSpPr/>
          <p:nvPr/>
        </p:nvSpPr>
        <p:spPr>
          <a:xfrm>
            <a:off x="841248" y="5581602"/>
            <a:ext cx="10780776" cy="246716"/>
          </a:xfrm>
          <a:prstGeom prst="rect">
            <a:avLst/>
          </a:prstGeom>
          <a:noFill/>
          <a:ln/>
        </p:spPr>
        <p:txBody>
          <a:bodyPr wrap="square" lIns="0" tIns="0" rIns="0" bIns="0" rtlCol="0" anchor="t"/>
          <a:lstStyle/>
          <a:p>
            <a:pPr marL="0" indent="0">
              <a:lnSpc>
                <a:spcPct val="103000"/>
              </a:lnSpc>
              <a:buNone/>
            </a:pPr>
            <a:r>
              <a:rPr lang="en-US" sz="1300" b="1" dirty="0">
                <a:solidFill>
                  <a:srgbClr val="16243D"/>
                </a:solidFill>
                <a:latin typeface="Arial" pitchFamily="34" charset="0"/>
                <a:ea typeface="Arial" pitchFamily="34" charset="-122"/>
                <a:cs typeface="Arial" pitchFamily="34" charset="-120"/>
              </a:rPr>
              <a:t>Términos de uso.  </a:t>
            </a:r>
            <a:r>
              <a:rPr lang="en-US" sz="1300" dirty="0">
                <a:solidFill>
                  <a:srgbClr val="444A55"/>
                </a:solidFill>
                <a:latin typeface="Arial" pitchFamily="34" charset="0"/>
                <a:ea typeface="Arial" pitchFamily="34" charset="-122"/>
                <a:cs typeface="Arial" pitchFamily="34" charset="-120"/>
              </a:rPr>
              <a:t>scraping académico, a ritmo respetuoso, sin redistribuir contenido.</a:t>
            </a:r>
            <a:endParaRPr lang="en-US" sz="1300" dirty="0"/>
          </a:p>
        </p:txBody>
      </p:sp>
      <p:sp>
        <p:nvSpPr>
          <p:cNvPr id="17" name="Text 15"/>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8" name="Text 16"/>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75488"/>
            <a:ext cx="137160" cy="137160"/>
          </a:xfrm>
          <a:prstGeom prst="rect">
            <a:avLst/>
          </a:prstGeom>
          <a:solidFill>
            <a:srgbClr val="C9A24B"/>
          </a:solidFill>
          <a:ln/>
        </p:spPr>
        <p:txBody>
          <a:bodyPr/>
          <a:lstStyle/>
          <a:p>
            <a:endParaRPr lang="es-AR"/>
          </a:p>
        </p:txBody>
      </p:sp>
      <p:sp>
        <p:nvSpPr>
          <p:cNvPr id="3" name="Text 1"/>
          <p:cNvSpPr/>
          <p:nvPr/>
        </p:nvSpPr>
        <p:spPr>
          <a:xfrm>
            <a:off x="822960" y="402336"/>
            <a:ext cx="10799064" cy="274320"/>
          </a:xfrm>
          <a:prstGeom prst="rect">
            <a:avLst/>
          </a:prstGeom>
          <a:noFill/>
          <a:ln/>
        </p:spPr>
        <p:txBody>
          <a:bodyPr wrap="square" lIns="0" tIns="0" rIns="0" bIns="0" rtlCol="0" anchor="ctr"/>
          <a:lstStyle/>
          <a:p>
            <a:pPr marL="0" indent="0" algn="l">
              <a:buNone/>
            </a:pPr>
            <a:r>
              <a:rPr lang="en-US" sz="1200" b="1" kern="0" spc="200" dirty="0">
                <a:solidFill>
                  <a:srgbClr val="C9A24B"/>
                </a:solidFill>
                <a:latin typeface="Arial" pitchFamily="34" charset="0"/>
                <a:ea typeface="Arial" pitchFamily="34" charset="-122"/>
                <a:cs typeface="Arial" pitchFamily="34" charset="-120"/>
              </a:rPr>
              <a:t>TRABAJO FUTURO</a:t>
            </a:r>
            <a:endParaRPr lang="en-US" sz="1200" dirty="0"/>
          </a:p>
        </p:txBody>
      </p:sp>
      <p:sp>
        <p:nvSpPr>
          <p:cNvPr id="4" name="Text 2"/>
          <p:cNvSpPr/>
          <p:nvPr/>
        </p:nvSpPr>
        <p:spPr>
          <a:xfrm>
            <a:off x="566928" y="713232"/>
            <a:ext cx="11055096" cy="777240"/>
          </a:xfrm>
          <a:prstGeom prst="rect">
            <a:avLst/>
          </a:prstGeom>
          <a:noFill/>
          <a:ln/>
        </p:spPr>
        <p:txBody>
          <a:bodyPr wrap="square" lIns="0" tIns="0" rIns="0" bIns="0" rtlCol="0" anchor="t"/>
          <a:lstStyle/>
          <a:p>
            <a:pPr marL="0" indent="0" algn="l">
              <a:buNone/>
            </a:pPr>
            <a:r>
              <a:rPr lang="en-US" sz="3000" b="1" dirty="0">
                <a:solidFill>
                  <a:srgbClr val="16243D"/>
                </a:solidFill>
                <a:latin typeface="Arial" pitchFamily="34" charset="0"/>
                <a:ea typeface="Arial" pitchFamily="34" charset="-122"/>
                <a:cs typeface="Arial" pitchFamily="34" charset="-120"/>
              </a:rPr>
              <a:t>Hacia la tesis de la maestría</a:t>
            </a:r>
            <a:endParaRPr lang="en-US" sz="3000" dirty="0"/>
          </a:p>
        </p:txBody>
      </p:sp>
      <p:sp>
        <p:nvSpPr>
          <p:cNvPr id="5" name="Text 3"/>
          <p:cNvSpPr/>
          <p:nvPr/>
        </p:nvSpPr>
        <p:spPr>
          <a:xfrm>
            <a:off x="566928" y="1645920"/>
            <a:ext cx="11055096" cy="914400"/>
          </a:xfrm>
          <a:prstGeom prst="rect">
            <a:avLst/>
          </a:prstGeom>
          <a:noFill/>
          <a:ln/>
        </p:spPr>
        <p:txBody>
          <a:bodyPr wrap="square" lIns="0" tIns="0" rIns="0" bIns="0" rtlCol="0" anchor="t"/>
          <a:lstStyle/>
          <a:p>
            <a:pPr marL="0" indent="0">
              <a:lnSpc>
                <a:spcPct val="108000"/>
              </a:lnSpc>
              <a:buNone/>
            </a:pPr>
            <a:r>
              <a:rPr lang="en-US" sz="1500" dirty="0">
                <a:solidFill>
                  <a:srgbClr val="444A55"/>
                </a:solidFill>
                <a:latin typeface="Arial" pitchFamily="34" charset="0"/>
                <a:ea typeface="Arial" pitchFamily="34" charset="-122"/>
                <a:cs typeface="Arial" pitchFamily="34" charset="-120"/>
              </a:rPr>
              <a:t>Los atributos generados por esta capa de NLP están pensados para integrarse, en el marco de la tesis, como features de un modelo hedónico de valuación para detectar activos subvaluados en CABA.</a:t>
            </a:r>
            <a:endParaRPr lang="en-US" sz="1500" dirty="0"/>
          </a:p>
        </p:txBody>
      </p:sp>
      <p:sp>
        <p:nvSpPr>
          <p:cNvPr id="6" name="Shape 4"/>
          <p:cNvSpPr/>
          <p:nvPr/>
        </p:nvSpPr>
        <p:spPr>
          <a:xfrm>
            <a:off x="566928" y="2697480"/>
            <a:ext cx="11055096" cy="1371600"/>
          </a:xfrm>
          <a:prstGeom prst="roundRect">
            <a:avLst>
              <a:gd name="adj" fmla="val 4000"/>
            </a:avLst>
          </a:prstGeom>
          <a:solidFill>
            <a:srgbClr val="F4F5F7"/>
          </a:solidFill>
          <a:ln w="12700">
            <a:solidFill>
              <a:srgbClr val="D9DCE1"/>
            </a:solidFill>
            <a:prstDash val="solid"/>
          </a:ln>
        </p:spPr>
        <p:txBody>
          <a:bodyPr/>
          <a:lstStyle/>
          <a:p>
            <a:endParaRPr lang="es-AR"/>
          </a:p>
        </p:txBody>
      </p:sp>
      <p:sp>
        <p:nvSpPr>
          <p:cNvPr id="7" name="Text 5"/>
          <p:cNvSpPr/>
          <p:nvPr/>
        </p:nvSpPr>
        <p:spPr>
          <a:xfrm>
            <a:off x="768096" y="2862072"/>
            <a:ext cx="10652760" cy="310896"/>
          </a:xfrm>
          <a:prstGeom prst="rect">
            <a:avLst/>
          </a:prstGeom>
          <a:noFill/>
          <a:ln/>
        </p:spPr>
        <p:txBody>
          <a:bodyPr wrap="square" lIns="0" tIns="0" rIns="0" bIns="0" rtlCol="0" anchor="t"/>
          <a:lstStyle/>
          <a:p>
            <a:pPr marL="0" indent="0" algn="l">
              <a:buNone/>
            </a:pPr>
            <a:r>
              <a:rPr lang="en-US" sz="1500" b="1" dirty="0">
                <a:solidFill>
                  <a:srgbClr val="16243D"/>
                </a:solidFill>
                <a:latin typeface="Arial" pitchFamily="34" charset="0"/>
                <a:ea typeface="Arial" pitchFamily="34" charset="-122"/>
                <a:cs typeface="Arial" pitchFamily="34" charset="-120"/>
              </a:rPr>
              <a:t>La hipótesis a testear</a:t>
            </a:r>
            <a:endParaRPr lang="en-US" sz="1500" dirty="0"/>
          </a:p>
        </p:txBody>
      </p:sp>
      <p:sp>
        <p:nvSpPr>
          <p:cNvPr id="8" name="Text 6"/>
          <p:cNvSpPr/>
          <p:nvPr/>
        </p:nvSpPr>
        <p:spPr>
          <a:xfrm>
            <a:off x="768096" y="3264408"/>
            <a:ext cx="10652760" cy="694944"/>
          </a:xfrm>
          <a:prstGeom prst="rect">
            <a:avLst/>
          </a:prstGeom>
          <a:noFill/>
          <a:ln/>
        </p:spPr>
        <p:txBody>
          <a:bodyPr wrap="square" lIns="0" tIns="0" rIns="0" bIns="0" rtlCol="0" anchor="t"/>
          <a:lstStyle/>
          <a:p>
            <a:pPr marL="0" indent="0" algn="l">
              <a:lnSpc>
                <a:spcPct val="105000"/>
              </a:lnSpc>
              <a:buNone/>
            </a:pPr>
            <a:r>
              <a:rPr lang="en-US" sz="1350" dirty="0">
                <a:solidFill>
                  <a:srgbClr val="444A55"/>
                </a:solidFill>
                <a:latin typeface="Arial" pitchFamily="34" charset="0"/>
                <a:ea typeface="Arial" pitchFamily="34" charset="-122"/>
                <a:cs typeface="Arial" pitchFamily="34" charset="-120"/>
              </a:rPr>
              <a:t>Que las variables latentes extraídas del texto libre aporten poder explicativo por encima de los atributos tabulares tradicionales.</a:t>
            </a:r>
            <a:endParaRPr lang="en-US" sz="1350" dirty="0"/>
          </a:p>
        </p:txBody>
      </p:sp>
      <p:sp>
        <p:nvSpPr>
          <p:cNvPr id="9" name="Shape 7"/>
          <p:cNvSpPr/>
          <p:nvPr/>
        </p:nvSpPr>
        <p:spPr>
          <a:xfrm>
            <a:off x="566928" y="4297680"/>
            <a:ext cx="11055096" cy="1188720"/>
          </a:xfrm>
          <a:prstGeom prst="roundRect">
            <a:avLst>
              <a:gd name="adj" fmla="val 4615"/>
            </a:avLst>
          </a:prstGeom>
          <a:solidFill>
            <a:srgbClr val="FBF4E4"/>
          </a:solidFill>
          <a:ln w="12700">
            <a:solidFill>
              <a:srgbClr val="C9A24B"/>
            </a:solidFill>
            <a:prstDash val="solid"/>
          </a:ln>
        </p:spPr>
        <p:txBody>
          <a:bodyPr/>
          <a:lstStyle/>
          <a:p>
            <a:endParaRPr lang="es-AR"/>
          </a:p>
        </p:txBody>
      </p:sp>
      <p:sp>
        <p:nvSpPr>
          <p:cNvPr id="10" name="Text 8"/>
          <p:cNvSpPr/>
          <p:nvPr/>
        </p:nvSpPr>
        <p:spPr>
          <a:xfrm>
            <a:off x="768096" y="4343400"/>
            <a:ext cx="10652760" cy="1097280"/>
          </a:xfrm>
          <a:prstGeom prst="rect">
            <a:avLst/>
          </a:prstGeom>
          <a:noFill/>
          <a:ln/>
        </p:spPr>
        <p:txBody>
          <a:bodyPr wrap="square" lIns="0" tIns="0" rIns="0" bIns="0" rtlCol="0" anchor="ctr"/>
          <a:lstStyle/>
          <a:p>
            <a:pPr marL="0" indent="0" algn="l">
              <a:lnSpc>
                <a:spcPct val="103000"/>
              </a:lnSpc>
              <a:buNone/>
            </a:pPr>
            <a:r>
              <a:rPr lang="en-US" sz="1250" i="1" dirty="0">
                <a:solidFill>
                  <a:srgbClr val="6E5518"/>
                </a:solidFill>
                <a:latin typeface="Arial" pitchFamily="34" charset="0"/>
                <a:ea typeface="Arial" pitchFamily="34" charset="-122"/>
                <a:cs typeface="Arial" pitchFamily="34" charset="-120"/>
              </a:rPr>
              <a:t>El paso inmediato: anotar a mano un conjunto real grande. Es lo que separa este pipeline funcionando de un modelo usable.</a:t>
            </a:r>
            <a:endParaRPr lang="en-US" sz="1250" dirty="0"/>
          </a:p>
        </p:txBody>
      </p:sp>
      <p:sp>
        <p:nvSpPr>
          <p:cNvPr id="11" name="Text 9"/>
          <p:cNvSpPr/>
          <p:nvPr/>
        </p:nvSpPr>
        <p:spPr>
          <a:xfrm>
            <a:off x="566928" y="6455664"/>
            <a:ext cx="7315200" cy="274320"/>
          </a:xfrm>
          <a:prstGeom prst="rect">
            <a:avLst/>
          </a:prstGeom>
          <a:noFill/>
          <a:ln/>
        </p:spPr>
        <p:txBody>
          <a:bodyPr wrap="square" lIns="0" tIns="0" rIns="0" bIns="0" rtlCol="0" anchor="ctr"/>
          <a:lstStyle/>
          <a:p>
            <a:pPr marL="0" indent="0" algn="l">
              <a:buNone/>
            </a:pPr>
            <a:r>
              <a:rPr lang="en-US" sz="900" dirty="0">
                <a:solidFill>
                  <a:srgbClr val="8A909B"/>
                </a:solidFill>
                <a:latin typeface="Arial" pitchFamily="34" charset="0"/>
                <a:ea typeface="Arial" pitchFamily="34" charset="-122"/>
                <a:cs typeface="Arial" pitchFamily="34" charset="-120"/>
              </a:rPr>
              <a:t>Agente LLM + NLP inmobiliario · MMA ITBA</a:t>
            </a:r>
            <a:endParaRPr lang="en-US" sz="900" dirty="0"/>
          </a:p>
        </p:txBody>
      </p:sp>
      <p:sp>
        <p:nvSpPr>
          <p:cNvPr id="12" name="Text 10"/>
          <p:cNvSpPr/>
          <p:nvPr/>
        </p:nvSpPr>
        <p:spPr>
          <a:xfrm>
            <a:off x="11247120" y="6455664"/>
            <a:ext cx="365760" cy="274320"/>
          </a:xfrm>
          <a:prstGeom prst="rect">
            <a:avLst/>
          </a:prstGeom>
          <a:noFill/>
          <a:ln/>
        </p:spPr>
        <p:txBody>
          <a:bodyPr wrap="square" lIns="0" tIns="0" rIns="0" bIns="0" rtlCol="0" anchor="ctr"/>
          <a:lstStyle/>
          <a:p>
            <a:pPr marL="0" indent="0" algn="r">
              <a:buNone/>
            </a:pPr>
            <a:r>
              <a:rPr lang="en-US" sz="900" dirty="0">
                <a:solidFill>
                  <a:srgbClr val="8A909B"/>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43D"/>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9A24B"/>
          </a:solidFill>
          <a:ln/>
        </p:spPr>
        <p:txBody>
          <a:bodyPr/>
          <a:lstStyle/>
          <a:p>
            <a:endParaRPr lang="es-AR"/>
          </a:p>
        </p:txBody>
      </p:sp>
      <p:sp>
        <p:nvSpPr>
          <p:cNvPr id="3" name="Text 1"/>
          <p:cNvSpPr/>
          <p:nvPr/>
        </p:nvSpPr>
        <p:spPr>
          <a:xfrm>
            <a:off x="914400" y="1051560"/>
            <a:ext cx="10332720" cy="1097280"/>
          </a:xfrm>
          <a:prstGeom prst="rect">
            <a:avLst/>
          </a:prstGeom>
          <a:noFill/>
          <a:ln/>
        </p:spPr>
        <p:txBody>
          <a:bodyPr wrap="square" lIns="0" tIns="0" rIns="0" bIns="0" rtlCol="0" anchor="t"/>
          <a:lstStyle/>
          <a:p>
            <a:pPr marL="0" indent="0">
              <a:lnSpc>
                <a:spcPct val="103000"/>
              </a:lnSpc>
              <a:buNone/>
            </a:pPr>
            <a:r>
              <a:rPr lang="en-US" sz="3000" b="1" dirty="0">
                <a:solidFill>
                  <a:srgbClr val="FFFFFF"/>
                </a:solidFill>
                <a:latin typeface="Arial" pitchFamily="34" charset="0"/>
                <a:ea typeface="Arial" pitchFamily="34" charset="-122"/>
                <a:cs typeface="Arial" pitchFamily="34" charset="-120"/>
              </a:rPr>
              <a:t>Lo más valioso son los hallazgos, no las métricas.</a:t>
            </a:r>
            <a:endParaRPr lang="en-US" sz="3000" dirty="0"/>
          </a:p>
        </p:txBody>
      </p:sp>
      <p:sp>
        <p:nvSpPr>
          <p:cNvPr id="4" name="Text 2"/>
          <p:cNvSpPr/>
          <p:nvPr/>
        </p:nvSpPr>
        <p:spPr>
          <a:xfrm>
            <a:off x="914400" y="2331720"/>
            <a:ext cx="10058400" cy="1645920"/>
          </a:xfrm>
          <a:prstGeom prst="rect">
            <a:avLst/>
          </a:prstGeom>
          <a:noFill/>
          <a:ln/>
        </p:spPr>
        <p:txBody>
          <a:bodyPr wrap="square" lIns="0" tIns="0" rIns="0" bIns="0" rtlCol="0" anchor="t"/>
          <a:lstStyle/>
          <a:p>
            <a:pPr marL="0" indent="0">
              <a:lnSpc>
                <a:spcPct val="115000"/>
              </a:lnSpc>
              <a:buNone/>
            </a:pPr>
            <a:r>
              <a:rPr lang="en-US" sz="1500" dirty="0">
                <a:solidFill>
                  <a:srgbClr val="C9CEDA"/>
                </a:solidFill>
                <a:latin typeface="Arial" pitchFamily="34" charset="0"/>
                <a:ea typeface="Arial" pitchFamily="34" charset="-122"/>
                <a:cs typeface="Arial" pitchFamily="34" charset="-120"/>
              </a:rPr>
              <a:t>El F1 de 100% en sintético era síntoma de un test demasiado fácil. El bloqueo anti-bot era por sesión, no por URL. El pre-anotador falla por omisión, no por invención. Y el clasificador no se pudo evaluar porque la muestra eran inmobiliarias. Todo eso está medido, no supuesto.</a:t>
            </a:r>
            <a:endParaRPr lang="en-US" sz="1500" dirty="0"/>
          </a:p>
        </p:txBody>
      </p:sp>
      <p:sp>
        <p:nvSpPr>
          <p:cNvPr id="5" name="Shape 3"/>
          <p:cNvSpPr/>
          <p:nvPr/>
        </p:nvSpPr>
        <p:spPr>
          <a:xfrm>
            <a:off x="932688" y="4160520"/>
            <a:ext cx="2011680" cy="45720"/>
          </a:xfrm>
          <a:prstGeom prst="rect">
            <a:avLst/>
          </a:prstGeom>
          <a:solidFill>
            <a:srgbClr val="C9A24B"/>
          </a:solidFill>
          <a:ln/>
        </p:spPr>
        <p:txBody>
          <a:bodyPr/>
          <a:lstStyle/>
          <a:p>
            <a:endParaRPr lang="es-AR"/>
          </a:p>
        </p:txBody>
      </p:sp>
      <p:sp>
        <p:nvSpPr>
          <p:cNvPr id="6" name="Text 4"/>
          <p:cNvSpPr/>
          <p:nvPr/>
        </p:nvSpPr>
        <p:spPr>
          <a:xfrm>
            <a:off x="914400" y="4389120"/>
            <a:ext cx="10332720" cy="365760"/>
          </a:xfrm>
          <a:prstGeom prst="rect">
            <a:avLst/>
          </a:prstGeom>
          <a:noFill/>
          <a:ln/>
        </p:spPr>
        <p:txBody>
          <a:bodyPr wrap="square" lIns="0" tIns="0" rIns="0" bIns="0" rtlCol="0" anchor="ctr"/>
          <a:lstStyle/>
          <a:p>
            <a:pPr marL="0" indent="0">
              <a:buNone/>
            </a:pPr>
            <a:r>
              <a:rPr lang="en-US" sz="1500" b="1" dirty="0">
                <a:solidFill>
                  <a:srgbClr val="C9A24B"/>
                </a:solidFill>
                <a:latin typeface="Arial" pitchFamily="34" charset="0"/>
                <a:ea typeface="Arial" pitchFamily="34" charset="-122"/>
                <a:cs typeface="Arial" pitchFamily="34" charset="-120"/>
              </a:rPr>
              <a:t>Repositorio:  </a:t>
            </a:r>
            <a:r>
              <a:rPr lang="en-US" sz="1500" dirty="0">
                <a:solidFill>
                  <a:srgbClr val="FFFFFF"/>
                </a:solidFill>
                <a:latin typeface="Arial" pitchFamily="34" charset="0"/>
                <a:ea typeface="Arial" pitchFamily="34" charset="-122"/>
                <a:cs typeface="Arial" pitchFamily="34" charset="-120"/>
              </a:rPr>
              <a:t>https://github.com/jvassarotto/agente-nlp-inmobiliario-caba</a:t>
            </a:r>
            <a:endParaRPr lang="en-US" sz="1500" dirty="0"/>
          </a:p>
        </p:txBody>
      </p:sp>
      <p:sp>
        <p:nvSpPr>
          <p:cNvPr id="7" name="Text 5"/>
          <p:cNvSpPr/>
          <p:nvPr/>
        </p:nvSpPr>
        <p:spPr>
          <a:xfrm>
            <a:off x="914400" y="4800600"/>
            <a:ext cx="10332720" cy="365760"/>
          </a:xfrm>
          <a:prstGeom prst="rect">
            <a:avLst/>
          </a:prstGeom>
          <a:noFill/>
          <a:ln/>
        </p:spPr>
        <p:txBody>
          <a:bodyPr wrap="square" lIns="0" tIns="0" rIns="0" bIns="0" rtlCol="0" anchor="ctr"/>
          <a:lstStyle/>
          <a:p>
            <a:pPr marL="0" indent="0">
              <a:buNone/>
            </a:pPr>
            <a:r>
              <a:rPr lang="en-US" sz="1350" b="1" dirty="0">
                <a:solidFill>
                  <a:srgbClr val="C9A24B"/>
                </a:solidFill>
                <a:latin typeface="Arial" pitchFamily="34" charset="0"/>
                <a:ea typeface="Arial" pitchFamily="34" charset="-122"/>
                <a:cs typeface="Arial" pitchFamily="34" charset="-120"/>
              </a:rPr>
              <a:t>Acceso a datos:  </a:t>
            </a:r>
            <a:r>
              <a:rPr lang="en-US" sz="1350" dirty="0">
                <a:solidFill>
                  <a:srgbClr val="C9CEDA"/>
                </a:solidFill>
                <a:latin typeface="Arial" pitchFamily="34" charset="0"/>
                <a:ea typeface="Arial" pitchFamily="34" charset="-122"/>
                <a:cs typeface="Arial" pitchFamily="34" charset="-120"/>
              </a:rPr>
              <a:t>datasets y reportes reproducibles en el repositorio (carpetas data/ y reports/).</a:t>
            </a:r>
            <a:endParaRPr lang="en-US" sz="1350" dirty="0"/>
          </a:p>
        </p:txBody>
      </p:sp>
      <p:sp>
        <p:nvSpPr>
          <p:cNvPr id="8" name="Text 6"/>
          <p:cNvSpPr/>
          <p:nvPr/>
        </p:nvSpPr>
        <p:spPr>
          <a:xfrm>
            <a:off x="914400" y="5852160"/>
            <a:ext cx="10332720" cy="365760"/>
          </a:xfrm>
          <a:prstGeom prst="rect">
            <a:avLst/>
          </a:prstGeom>
          <a:noFill/>
          <a:ln/>
        </p:spPr>
        <p:txBody>
          <a:bodyPr wrap="square" lIns="0" tIns="0" rIns="0" bIns="0" rtlCol="0" anchor="ctr"/>
          <a:lstStyle/>
          <a:p>
            <a:pPr marL="0" indent="0">
              <a:buNone/>
            </a:pPr>
            <a:r>
              <a:rPr lang="en-US" sz="1200" dirty="0">
                <a:solidFill>
                  <a:srgbClr val="8A909B"/>
                </a:solidFill>
                <a:latin typeface="Arial" pitchFamily="34" charset="0"/>
                <a:ea typeface="Arial" pitchFamily="34" charset="-122"/>
                <a:cs typeface="Arial" pitchFamily="34" charset="-120"/>
              </a:rPr>
              <a:t>Joaquín Héctor Vassarotto · Legajo 106442 · Deep Learning — MMA ITBA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1957</Words>
  <Application>Microsoft Office PowerPoint</Application>
  <PresentationFormat>Personalizado</PresentationFormat>
  <Paragraphs>244</Paragraphs>
  <Slides>16</Slides>
  <Notes>16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16</vt:i4>
      </vt:variant>
    </vt:vector>
  </HeadingPairs>
  <TitlesOfParts>
    <vt:vector size="19" baseType="lpstr">
      <vt:lpstr>Aptos</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 Final Deep Learning - Agente LLM + NLP inmobiliario</dc:title>
  <dc:subject>PptxGenJS Presentation</dc:subject>
  <dc:creator>Joaquin Hector Vassarotto</dc:creator>
  <cp:lastModifiedBy>VASSAROTTO, JOAQUIN HECTOR</cp:lastModifiedBy>
  <cp:revision>2</cp:revision>
  <dcterms:created xsi:type="dcterms:W3CDTF">2026-08-09T22:59:56Z</dcterms:created>
  <dcterms:modified xsi:type="dcterms:W3CDTF">2026-08-09T23:04:39Z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28ef38c-4357-49c8-b2ae-c9cdaf411188_Enabled">
    <vt:lpwstr>true</vt:lpwstr>
  </property>
  <property fmtid="{D5CDD505-2E9C-101B-9397-08002B2CF9AE}" pid="3" name="MSIP_Label_228ef38c-4357-49c8-b2ae-c9cdaf411188_SetDate">
    <vt:lpwstr>2026-08-09T23:02:10Z</vt:lpwstr>
  </property>
  <property fmtid="{D5CDD505-2E9C-101B-9397-08002B2CF9AE}" pid="4" name="MSIP_Label_228ef38c-4357-49c8-b2ae-c9cdaf411188_Method">
    <vt:lpwstr>Privileged</vt:lpwstr>
  </property>
  <property fmtid="{D5CDD505-2E9C-101B-9397-08002B2CF9AE}" pid="5" name="MSIP_Label_228ef38c-4357-49c8-b2ae-c9cdaf411188_Name">
    <vt:lpwstr>Personal</vt:lpwstr>
  </property>
  <property fmtid="{D5CDD505-2E9C-101B-9397-08002B2CF9AE}" pid="6" name="MSIP_Label_228ef38c-4357-49c8-b2ae-c9cdaf411188_SiteId">
    <vt:lpwstr>038018c3-616c-4b46-ad9b-aa9007f701b5</vt:lpwstr>
  </property>
  <property fmtid="{D5CDD505-2E9C-101B-9397-08002B2CF9AE}" pid="7" name="MSIP_Label_228ef38c-4357-49c8-b2ae-c9cdaf411188_ActionId">
    <vt:lpwstr>ed401505-d1ae-441f-81c6-8cebd6274314</vt:lpwstr>
  </property>
  <property fmtid="{D5CDD505-2E9C-101B-9397-08002B2CF9AE}" pid="8" name="MSIP_Label_228ef38c-4357-49c8-b2ae-c9cdaf411188_ContentBits">
    <vt:lpwstr>1</vt:lpwstr>
  </property>
  <property fmtid="{D5CDD505-2E9C-101B-9397-08002B2CF9AE}" pid="9" name="MSIP_Label_228ef38c-4357-49c8-b2ae-c9cdaf411188_Tag">
    <vt:lpwstr>10, 0, 1, 1</vt:lpwstr>
  </property>
  <property fmtid="{D5CDD505-2E9C-101B-9397-08002B2CF9AE}" pid="10" name="ClassificationContentMarkingHeaderLocations">
    <vt:lpwstr>Office Theme:3</vt:lpwstr>
  </property>
  <property fmtid="{D5CDD505-2E9C-101B-9397-08002B2CF9AE}" pid="11" name="ClassificationContentMarkingHeaderText">
    <vt:lpwstr>Documento: Personal</vt:lpwstr>
  </property>
</Properties>
</file>
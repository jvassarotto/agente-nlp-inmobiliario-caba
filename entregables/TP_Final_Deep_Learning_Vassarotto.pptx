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43D"/>
        </a:solidFill>
        <a:effectLst/>
      </p:bgPr>
    </p:bg>
    <p:spTree>
      <p:nvGrpSpPr>
        <p:cNvPr id="1" name=""/>
        <p:cNvGrpSpPr/>
        <p:nvPr/>
      </p:nvGrpSpPr>
      <p:grpSpPr/>
      <p:sp>
        <p:nvSpPr>
          <p:cNvPr id="2" name="TextBox 1"/>
          <p:cNvSpPr txBox="1"/>
          <p:nvPr/>
        </p:nvSpPr>
        <p:spPr>
          <a:xfrm>
            <a:off x="822960" y="1920240"/>
            <a:ext cx="10515600" cy="2194560"/>
          </a:xfrm>
          <a:prstGeom prst="rect">
            <a:avLst/>
          </a:prstGeom>
          <a:noFill/>
        </p:spPr>
        <p:txBody>
          <a:bodyPr wrap="square">
            <a:spAutoFit/>
          </a:bodyPr>
          <a:lstStyle/>
          <a:p>
            <a:pPr algn="l">
              <a:spcAft>
                <a:spcPts val="800"/>
              </a:spcAft>
            </a:pPr>
            <a:r>
              <a:rPr sz="3600" b="1">
                <a:solidFill>
                  <a:srgbClr val="FFFFFF"/>
                </a:solidFill>
                <a:latin typeface="Arial"/>
              </a:rPr>
              <a:t>Agente basado en LLM para la adquisición autónoma de avisos inmobiliarios y enriquecimiento semántico mediante NLP</a:t>
            </a:r>
          </a:p>
        </p:txBody>
      </p:sp>
      <p:sp>
        <p:nvSpPr>
          <p:cNvPr id="3" name="Rectangle 2"/>
          <p:cNvSpPr/>
          <p:nvPr/>
        </p:nvSpPr>
        <p:spPr>
          <a:xfrm>
            <a:off x="868680" y="416052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434840"/>
            <a:ext cx="10515600" cy="914400"/>
          </a:xfrm>
          <a:prstGeom prst="rect">
            <a:avLst/>
          </a:prstGeom>
          <a:noFill/>
        </p:spPr>
        <p:txBody>
          <a:bodyPr wrap="square">
            <a:spAutoFit/>
          </a:bodyPr>
          <a:lstStyle/>
          <a:p>
            <a:pPr algn="l">
              <a:spcAft>
                <a:spcPts val="800"/>
              </a:spcAft>
            </a:pPr>
            <a:r>
              <a:rPr sz="1800" b="0">
                <a:solidFill>
                  <a:srgbClr val="C9A24B"/>
                </a:solidFill>
                <a:latin typeface="Arial"/>
              </a:rPr>
              <a:t>Trabajo Final — Deep Learning</a:t>
            </a:r>
          </a:p>
        </p:txBody>
      </p:sp>
      <p:sp>
        <p:nvSpPr>
          <p:cNvPr id="5" name="TextBox 4"/>
          <p:cNvSpPr txBox="1"/>
          <p:nvPr/>
        </p:nvSpPr>
        <p:spPr>
          <a:xfrm>
            <a:off x="822960" y="5394960"/>
            <a:ext cx="10515600" cy="822960"/>
          </a:xfrm>
          <a:prstGeom prst="rect">
            <a:avLst/>
          </a:prstGeom>
          <a:noFill/>
        </p:spPr>
        <p:txBody>
          <a:bodyPr wrap="square">
            <a:spAutoFit/>
          </a:bodyPr>
          <a:lstStyle/>
          <a:p>
            <a:pPr algn="l">
              <a:spcAft>
                <a:spcPts val="800"/>
              </a:spcAft>
            </a:pPr>
            <a:r>
              <a:rPr sz="1400" b="0">
                <a:solidFill>
                  <a:srgbClr val="FFFFFF"/>
                </a:solidFill>
                <a:latin typeface="Arial"/>
              </a:rPr>
              <a:t>Joaquín Héctor Vassarotto · Legajo 106442
Maestría en Management &amp; Analytics (MMA) — ITBA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El problema de negocio</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548640"/>
          </a:xfrm>
          <a:prstGeom prst="rect">
            <a:avLst/>
          </a:prstGeom>
          <a:noFill/>
        </p:spPr>
        <p:txBody>
          <a:bodyPr wrap="square">
            <a:spAutoFit/>
          </a:bodyPr>
          <a:lstStyle/>
          <a:p>
            <a:pPr algn="l">
              <a:spcAft>
                <a:spcPts val="800"/>
              </a:spcAft>
            </a:pPr>
            <a:r>
              <a:rPr sz="1500" b="1">
                <a:solidFill>
                  <a:srgbClr val="C9A24B"/>
                </a:solidFill>
                <a:latin typeface="Arial"/>
              </a:rPr>
              <a:t>¿Qué problema específico busca resolver el proyecto?</a:t>
            </a:r>
          </a:p>
        </p:txBody>
      </p:sp>
      <p:sp>
        <p:nvSpPr>
          <p:cNvPr id="5" name="TextBox 4"/>
          <p:cNvSpPr txBox="1"/>
          <p:nvPr/>
        </p:nvSpPr>
        <p:spPr>
          <a:xfrm>
            <a:off x="822960" y="2148840"/>
            <a:ext cx="10515600" cy="4206240"/>
          </a:xfrm>
          <a:prstGeom prst="rect">
            <a:avLst/>
          </a:prstGeom>
          <a:noFill/>
        </p:spPr>
        <p:txBody>
          <a:bodyPr wrap="square">
            <a:spAutoFit/>
          </a:bodyPr>
          <a:lstStyle/>
          <a:p>
            <a:pPr algn="l">
              <a:spcAft>
                <a:spcPts val="1100"/>
              </a:spcAft>
            </a:pPr>
            <a:r>
              <a:rPr sz="1700" b="0">
                <a:solidFill>
                  <a:srgbClr val="444A55"/>
                </a:solidFill>
                <a:latin typeface="Arial"/>
              </a:rPr>
              <a:t>Valuar departamentos en CABA con modelos automáticos (AVM) choca con dos limitaciones de datos:</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1.  Adquirir los avisos es frágil y manual. Los scrapers por reglas fijas se rompen ante cada cambio de layout del portal, y no toleran la heterogeneidad entre publicaciones.</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2.  La información de valor está en el texto libre. Estado, amenities, orientación, antigüedad y señales del vendedor viven en la descripción — no en los campos tabulares que ofrecen los datasets públicos.</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Dos propiedades con los mismos metros y ambientes pueden valer muy distinto según lo que diga la descripción.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Propuesta de valor</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548640"/>
          </a:xfrm>
          <a:prstGeom prst="rect">
            <a:avLst/>
          </a:prstGeom>
          <a:noFill/>
        </p:spPr>
        <p:txBody>
          <a:bodyPr wrap="square">
            <a:spAutoFit/>
          </a:bodyPr>
          <a:lstStyle/>
          <a:p>
            <a:pPr algn="l">
              <a:spcAft>
                <a:spcPts val="800"/>
              </a:spcAft>
            </a:pPr>
            <a:r>
              <a:rPr sz="1500" b="1">
                <a:solidFill>
                  <a:srgbClr val="C9A24B"/>
                </a:solidFill>
                <a:latin typeface="Arial"/>
              </a:rPr>
              <a:t>Qué aporta que no exista hoy</a:t>
            </a:r>
          </a:p>
        </p:txBody>
      </p:sp>
      <p:sp>
        <p:nvSpPr>
          <p:cNvPr id="5" name="TextBox 4"/>
          <p:cNvSpPr txBox="1"/>
          <p:nvPr/>
        </p:nvSpPr>
        <p:spPr>
          <a:xfrm>
            <a:off x="822960" y="2148840"/>
            <a:ext cx="10515600" cy="4206240"/>
          </a:xfrm>
          <a:prstGeom prst="rect">
            <a:avLst/>
          </a:prstGeom>
          <a:noFill/>
        </p:spPr>
        <p:txBody>
          <a:bodyPr wrap="square">
            <a:spAutoFit/>
          </a:bodyPr>
          <a:lstStyle/>
          <a:p>
            <a:pPr algn="l">
              <a:spcAft>
                <a:spcPts val="1100"/>
              </a:spcAft>
            </a:pPr>
            <a:r>
              <a:rPr sz="1700" b="0">
                <a:solidFill>
                  <a:srgbClr val="444A55"/>
                </a:solidFill>
                <a:latin typeface="Arial"/>
              </a:rPr>
              <a:t>El objetivo no es obtener datos: es generar variables latentes a partir del lenguaje natural.</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  Un agente que se adapta en lugar de romperse ante cambios del portal.</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  Atributos estructurados que los datasets tabulares no capturan: estado de conservación, amenities, orientación, y señales del vendedor.</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  Señales potencialmente correlacionadas con subvaluación — «dueño directo», «escucho ofertas», «venta urgente» — que son justamente las de mayor interés para detectar oportunidades.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Arquitectura: dos capas</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206240"/>
          </a:xfrm>
          <a:prstGeom prst="rect">
            <a:avLst/>
          </a:prstGeom>
          <a:noFill/>
        </p:spPr>
        <p:txBody>
          <a:bodyPr wrap="square">
            <a:spAutoFit/>
          </a:bodyPr>
          <a:lstStyle/>
          <a:p>
            <a:pPr algn="l">
              <a:spcAft>
                <a:spcPts val="1100"/>
              </a:spcAft>
            </a:pPr>
            <a:r>
              <a:rPr sz="1600" b="0">
                <a:solidFill>
                  <a:srgbClr val="444A55"/>
                </a:solidFill>
                <a:latin typeface="Arial"/>
              </a:rPr>
              <a:t>CAPA 1 — Agente (orquestación).  LLM local y gratuito (Ollama) con patrón ReAct / tool-use. El LLM actúa como policy: razona sobre el estado de la página y decide la acción (navegar, paginar, extraer, reintentar).</a:t>
            </a:r>
          </a:p>
          <a:p>
            <a:pPr algn="l">
              <a:spcAft>
                <a:spcPts val="1100"/>
              </a:spcAft>
            </a:pPr>
            <a:r>
              <a:rPr sz="1600" b="0">
                <a:solidFill>
                  <a:srgbClr val="444A55"/>
                </a:solidFill>
                <a:latin typeface="Arial"/>
              </a:rPr>
              <a:t>      Herramientas: Playwright (contenido dinámico) + parser resiliente.</a:t>
            </a:r>
          </a:p>
          <a:p>
            <a:pPr algn="l">
              <a:spcAft>
                <a:spcPts val="1100"/>
              </a:spcAft>
            </a:pPr>
            <a:r>
              <a:rPr sz="1600" b="0">
                <a:solidFill>
                  <a:srgbClr val="444A55"/>
                </a:solidFill>
                <a:latin typeface="Arial"/>
              </a:rPr>
              <a:t>      → El LLM se usa PRE-ENTRENADO. No es lo que se entrena.</a:t>
            </a:r>
          </a:p>
          <a:p>
            <a:pPr algn="l">
              <a:spcAft>
                <a:spcPts val="1100"/>
              </a:spcAft>
            </a:pPr>
            <a:r>
              <a:rPr sz="1600" b="0">
                <a:solidFill>
                  <a:srgbClr val="444A55"/>
                </a:solidFill>
                <a:latin typeface="Arial"/>
              </a:rPr>
              <a:t/>
            </a:r>
          </a:p>
          <a:p>
            <a:pPr algn="l">
              <a:spcAft>
                <a:spcPts val="1100"/>
              </a:spcAft>
            </a:pPr>
            <a:r>
              <a:rPr sz="1600" b="0">
                <a:solidFill>
                  <a:srgbClr val="444A55"/>
                </a:solidFill>
                <a:latin typeface="Arial"/>
              </a:rPr>
              <a:t>CAPA 2 — Enriquecimiento (NLP).  Dos transformers BETO fine-tuneados que convierten la descripción en variables estructuradas.</a:t>
            </a:r>
          </a:p>
          <a:p>
            <a:pPr algn="l">
              <a:spcAft>
                <a:spcPts val="1100"/>
              </a:spcAft>
            </a:pPr>
            <a:r>
              <a:rPr sz="1600" b="0">
                <a:solidFill>
                  <a:srgbClr val="444A55"/>
                </a:solidFill>
                <a:latin typeface="Arial"/>
              </a:rPr>
              <a:t>      → Este es el núcleo entrenable y el entregable de la materia.</a:t>
            </a:r>
          </a:p>
          <a:p>
            <a:pPr algn="l">
              <a:spcAft>
                <a:spcPts val="1100"/>
              </a:spcAft>
            </a:pPr>
            <a:r>
              <a:rPr sz="1600" b="0">
                <a:solidFill>
                  <a:srgbClr val="444A55"/>
                </a:solidFill>
                <a:latin typeface="Arial"/>
              </a:rPr>
              <a:t/>
            </a:r>
          </a:p>
          <a:p>
            <a:pPr algn="l">
              <a:spcAft>
                <a:spcPts val="1100"/>
              </a:spcAft>
            </a:pPr>
            <a:r>
              <a:rPr sz="1600" b="0">
                <a:solidFill>
                  <a:srgbClr val="444A55"/>
                </a:solidFill>
                <a:latin typeface="Arial"/>
              </a:rPr>
              <a:t>Stack: LangChain + LangGraph · Playwright · HuggingFace Transformers · PyTorch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Los modelos que se entrenan</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206240"/>
          </a:xfrm>
          <a:prstGeom prst="rect">
            <a:avLst/>
          </a:prstGeom>
          <a:noFill/>
        </p:spPr>
        <p:txBody>
          <a:bodyPr wrap="square">
            <a:spAutoFit/>
          </a:bodyPr>
          <a:lstStyle/>
          <a:p>
            <a:pPr algn="l">
              <a:spcAft>
                <a:spcPts val="1100"/>
              </a:spcAft>
            </a:pPr>
            <a:r>
              <a:rPr sz="1600" b="0">
                <a:solidFill>
                  <a:srgbClr val="444A55"/>
                </a:solidFill>
                <a:latin typeface="Arial"/>
              </a:rPr>
              <a:t>Ambos parten de BETO (dccuchile/bert-base-spanish-wwm-cased), un BERT entrenado en español.</a:t>
            </a:r>
          </a:p>
          <a:p>
            <a:pPr algn="l">
              <a:spcAft>
                <a:spcPts val="1100"/>
              </a:spcAft>
            </a:pPr>
            <a:r>
              <a:rPr sz="1600" b="0">
                <a:solidFill>
                  <a:srgbClr val="444A55"/>
                </a:solidFill>
                <a:latin typeface="Arial"/>
              </a:rPr>
              <a:t/>
            </a:r>
          </a:p>
          <a:p>
            <a:pPr algn="l">
              <a:spcAft>
                <a:spcPts val="1100"/>
              </a:spcAft>
            </a:pPr>
            <a:r>
              <a:rPr sz="1600" b="0">
                <a:solidFill>
                  <a:srgbClr val="444A55"/>
                </a:solidFill>
                <a:latin typeface="Arial"/>
              </a:rPr>
              <a:t>1.  NER — token classification, esquema BIO.</a:t>
            </a:r>
          </a:p>
          <a:p>
            <a:pPr algn="l">
              <a:spcAft>
                <a:spcPts val="1100"/>
              </a:spcAft>
            </a:pPr>
            <a:r>
              <a:rPr sz="1600" b="0">
                <a:solidFill>
                  <a:srgbClr val="444A55"/>
                </a:solidFill>
                <a:latin typeface="Arial"/>
              </a:rPr>
              <a:t>      AMENITY · ESTADO · ANTIGUEDAD · ORIENTACION · EXPENSAS</a:t>
            </a:r>
          </a:p>
          <a:p>
            <a:pPr algn="l">
              <a:spcAft>
                <a:spcPts val="1100"/>
              </a:spcAft>
            </a:pPr>
            <a:r>
              <a:rPr sz="1600" b="0">
                <a:solidFill>
                  <a:srgbClr val="444A55"/>
                </a:solidFill>
                <a:latin typeface="Arial"/>
              </a:rPr>
              <a:t>      Dónde, dentro del texto, se menciona cada atributo.</a:t>
            </a:r>
          </a:p>
          <a:p>
            <a:pPr algn="l">
              <a:spcAft>
                <a:spcPts val="1100"/>
              </a:spcAft>
            </a:pPr>
            <a:r>
              <a:rPr sz="1600" b="0">
                <a:solidFill>
                  <a:srgbClr val="444A55"/>
                </a:solidFill>
                <a:latin typeface="Arial"/>
              </a:rPr>
              <a:t/>
            </a:r>
          </a:p>
          <a:p>
            <a:pPr algn="l">
              <a:spcAft>
                <a:spcPts val="1100"/>
              </a:spcAft>
            </a:pPr>
            <a:r>
              <a:rPr sz="1600" b="0">
                <a:solidFill>
                  <a:srgbClr val="444A55"/>
                </a:solidFill>
                <a:latin typeface="Arial"/>
              </a:rPr>
              <a:t>2.  Clasificación multilabel — señales del vendedor.</a:t>
            </a:r>
          </a:p>
          <a:p>
            <a:pPr algn="l">
              <a:spcAft>
                <a:spcPts val="1100"/>
              </a:spcAft>
            </a:pPr>
            <a:r>
              <a:rPr sz="1600" b="0">
                <a:solidFill>
                  <a:srgbClr val="444A55"/>
                </a:solidFill>
                <a:latin typeface="Arial"/>
              </a:rPr>
              <a:t>      DUENO_DIRECTO · OPORTUNIDAD · URGENCIA · REFACCION</a:t>
            </a:r>
          </a:p>
          <a:p>
            <a:pPr algn="l">
              <a:spcAft>
                <a:spcPts val="1100"/>
              </a:spcAft>
            </a:pPr>
            <a:r>
              <a:rPr sz="1600" b="0">
                <a:solidFill>
                  <a:srgbClr val="444A55"/>
                </a:solidFill>
                <a:latin typeface="Arial"/>
              </a:rPr>
              <a:t>      Multilabel y no multiclase: un aviso puede ser a la vez «dueño directo» y «urgencia».</a:t>
            </a:r>
          </a:p>
          <a:p>
            <a:pPr algn="l">
              <a:spcAft>
                <a:spcPts val="1100"/>
              </a:spcAft>
            </a:pPr>
            <a:r>
              <a:rPr sz="1600" b="0">
                <a:solidFill>
                  <a:srgbClr val="444A55"/>
                </a:solidFill>
                <a:latin typeface="Arial"/>
              </a:rPr>
              <a:t/>
            </a:r>
          </a:p>
          <a:p>
            <a:pPr algn="l">
              <a:spcAft>
                <a:spcPts val="1100"/>
              </a:spcAft>
            </a:pPr>
            <a:r>
              <a:rPr sz="1600" b="0">
                <a:solidFill>
                  <a:srgbClr val="444A55"/>
                </a:solidFill>
                <a:latin typeface="Arial"/>
              </a:rPr>
              <a:t>Restricción de hardware: GTX 1650 con 4 GB de VRAM → fp16, batch chico y gradient accumulation para recuperar un batch efectivo razonable.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Métricas: definición y justificación</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206240"/>
          </a:xfrm>
          <a:prstGeom prst="rect">
            <a:avLst/>
          </a:prstGeom>
          <a:noFill/>
        </p:spPr>
        <p:txBody>
          <a:bodyPr wrap="square">
            <a:spAutoFit/>
          </a:bodyPr>
          <a:lstStyle/>
          <a:p>
            <a:pPr algn="l">
              <a:spcAft>
                <a:spcPts val="1100"/>
              </a:spcAft>
            </a:pPr>
            <a:r>
              <a:rPr sz="1500" b="0">
                <a:solidFill>
                  <a:srgbClr val="444A55"/>
                </a:solidFill>
                <a:latin typeface="Arial"/>
              </a:rPr>
              <a:t>NER — F1 por entidad con seqeval, NO accuracy por token.</a:t>
            </a:r>
          </a:p>
          <a:p>
            <a:pPr algn="l">
              <a:spcAft>
                <a:spcPts val="1100"/>
              </a:spcAft>
            </a:pPr>
            <a:r>
              <a:rPr sz="1500" b="0">
                <a:solidFill>
                  <a:srgbClr val="444A55"/>
                </a:solidFill>
                <a:latin typeface="Arial"/>
              </a:rPr>
              <a:t>      • El accuracy por token miente: la enorme mayoría de los tokens son «O», así que un modelo que no detecte nada igual sacaría un valor altísimo.</a:t>
            </a:r>
          </a:p>
          <a:p>
            <a:pPr algn="l">
              <a:spcAft>
                <a:spcPts val="1100"/>
              </a:spcAft>
            </a:pPr>
            <a:r>
              <a:rPr sz="1500" b="0">
                <a:solidFill>
                  <a:srgbClr val="444A55"/>
                </a:solidFill>
                <a:latin typeface="Arial"/>
              </a:rPr>
              <a:t>      • Importa el span completo: si la anotación dice «a estrenar» y el modelo marca sólo «estrenar», la variable resultante está mal. seqeval exige que coincidan tipo y límites exactos.</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Clasificación — F1 macro además del micro.</a:t>
            </a:r>
          </a:p>
          <a:p>
            <a:pPr algn="l">
              <a:spcAft>
                <a:spcPts val="1100"/>
              </a:spcAft>
            </a:pPr>
            <a:r>
              <a:rPr sz="1500" b="0">
                <a:solidFill>
                  <a:srgbClr val="444A55"/>
                </a:solidFill>
                <a:latin typeface="Arial"/>
              </a:rPr>
              <a:t>      • Las clases están desbalanceadas; el micro queda dominado por las frecuentes.</a:t>
            </a:r>
          </a:p>
          <a:p>
            <a:pPr algn="l">
              <a:spcAft>
                <a:spcPts val="1100"/>
              </a:spcAft>
            </a:pPr>
            <a:r>
              <a:rPr sz="1500" b="0">
                <a:solidFill>
                  <a:srgbClr val="444A55"/>
                </a:solidFill>
                <a:latin typeface="Arial"/>
              </a:rPr>
              <a:t>      • El macro promedia las cuatro clases con igual peso, y por eso penaliza ignorar una clase rara — justamente URGENCIA y OPORTUNIDAD, las más útiles para detectar subvaluación.</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Agente — tasa de éxito de extracción y robustez ante cambios de layout.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Resultados — la brecha sintético → real</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99.5%</a:t>
            </a:r>
          </a:p>
          <a:p>
            <a:pPr algn="ctr"/>
            <a:r>
              <a:rPr sz="1300">
                <a:solidFill>
                  <a:srgbClr val="FFFFFF"/>
                </a:solidFill>
                <a:latin typeface="Arial"/>
              </a:rPr>
              <a:t>F1 NER
sobre sintético</a:t>
            </a:r>
          </a:p>
        </p:txBody>
      </p:sp>
      <p:sp>
        <p:nvSpPr>
          <p:cNvPr id="5" name="Rounded Rectangle 4"/>
          <p:cNvSpPr/>
          <p:nvPr/>
        </p:nvSpPr>
        <p:spPr>
          <a:xfrm>
            <a:off x="34518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20.2%</a:t>
            </a:r>
          </a:p>
          <a:p>
            <a:pPr algn="ctr"/>
            <a:r>
              <a:rPr sz="1300">
                <a:solidFill>
                  <a:srgbClr val="FFFFFF"/>
                </a:solidFill>
                <a:latin typeface="Arial"/>
              </a:rPr>
              <a:t>F1 NER
sobre REAL
(gold humano)</a:t>
            </a:r>
          </a:p>
        </p:txBody>
      </p:sp>
      <p:sp>
        <p:nvSpPr>
          <p:cNvPr id="6" name="Rounded Rectangle 5"/>
          <p:cNvSpPr/>
          <p:nvPr/>
        </p:nvSpPr>
        <p:spPr>
          <a:xfrm>
            <a:off x="60807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100.0%</a:t>
            </a:r>
          </a:p>
          <a:p>
            <a:pPr algn="ctr"/>
            <a:r>
              <a:rPr sz="1300">
                <a:solidFill>
                  <a:srgbClr val="FFFFFF"/>
                </a:solidFill>
                <a:latin typeface="Arial"/>
              </a:rPr>
              <a:t>F1 macro clasif.
sobre sintético</a:t>
            </a:r>
          </a:p>
        </p:txBody>
      </p:sp>
      <p:sp>
        <p:nvSpPr>
          <p:cNvPr id="7" name="Rounded Rectangle 6"/>
          <p:cNvSpPr/>
          <p:nvPr/>
        </p:nvSpPr>
        <p:spPr>
          <a:xfrm>
            <a:off x="87096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45</a:t>
            </a:r>
          </a:p>
          <a:p>
            <a:pPr algn="ctr"/>
            <a:r>
              <a:rPr sz="1300">
                <a:solidFill>
                  <a:srgbClr val="FFFFFF"/>
                </a:solidFill>
                <a:latin typeface="Arial"/>
              </a:rPr>
              <a:t>avisos revisados
a mano</a:t>
            </a:r>
          </a:p>
        </p:txBody>
      </p:sp>
      <p:sp>
        <p:nvSpPr>
          <p:cNvPr id="8" name="TextBox 7"/>
          <p:cNvSpPr txBox="1"/>
          <p:nvPr/>
        </p:nvSpPr>
        <p:spPr>
          <a:xfrm>
            <a:off x="822960" y="4297680"/>
            <a:ext cx="10515600" cy="1828800"/>
          </a:xfrm>
          <a:prstGeom prst="rect">
            <a:avLst/>
          </a:prstGeom>
          <a:noFill/>
        </p:spPr>
        <p:txBody>
          <a:bodyPr wrap="square">
            <a:spAutoFit/>
          </a:bodyPr>
          <a:lstStyle/>
          <a:p>
            <a:pPr algn="l">
              <a:spcAft>
                <a:spcPts val="1000"/>
              </a:spcAft>
            </a:pPr>
            <a:r>
              <a:rPr sz="1500" b="0">
                <a:solidFill>
                  <a:srgbClr val="444A55"/>
                </a:solidFill>
                <a:latin typeface="Arial"/>
              </a:rPr>
              <a:t>Un F1 casi perfecto sobre datos sintéticos no mide qué tan bueno es el modelo, sino qué tan fácil es el test: los avisos salen de plantillas y el modelo aprende la plantilla en lugar del concepto.</a:t>
            </a:r>
          </a:p>
          <a:p>
            <a:pPr algn="l">
              <a:spcAft>
                <a:spcPts val="1000"/>
              </a:spcAft>
            </a:pPr>
            <a:r>
              <a:rPr sz="1500" b="0">
                <a:solidFill>
                  <a:srgbClr val="444A55"/>
                </a:solidFill>
                <a:latin typeface="Arial"/>
              </a:rPr>
              <a:t/>
            </a:r>
          </a:p>
          <a:p>
            <a:pPr algn="l">
              <a:spcAft>
                <a:spcPts val="1000"/>
              </a:spcAft>
            </a:pPr>
            <a:r>
              <a:rPr sz="1500" b="0">
                <a:solidFill>
                  <a:srgbClr val="444A55"/>
                </a:solidFill>
                <a:latin typeface="Arial"/>
              </a:rPr>
              <a:t>El conjunto real es verdad de referencia HUMANA, no etiquetas de otro modelo. Contra el LLM el NER daba 0.197; contra el humano, 0.202: la conclusión no depende de quién anotó.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Lo que sólo apareció al revisar a mano</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206240"/>
          </a:xfrm>
          <a:prstGeom prst="rect">
            <a:avLst/>
          </a:prstGeom>
          <a:noFill/>
        </p:spPr>
        <p:txBody>
          <a:bodyPr wrap="square">
            <a:spAutoFit/>
          </a:bodyPr>
          <a:lstStyle/>
          <a:p>
            <a:pPr algn="l">
              <a:spcAft>
                <a:spcPts val="1100"/>
              </a:spcAft>
            </a:pPr>
            <a:r>
              <a:rPr sz="1400" b="0">
                <a:solidFill>
                  <a:srgbClr val="444A55"/>
                </a:solidFill>
                <a:latin typeface="Arial"/>
              </a:rPr>
              <a:t>EL PRE-ANOTADOR LLM ALUCINABA.</a:t>
            </a:r>
          </a:p>
          <a:p>
            <a:pPr algn="l">
              <a:spcAft>
                <a:spcPts val="1100"/>
              </a:spcAft>
            </a:pPr>
            <a:r>
              <a:rPr sz="1400" b="0">
                <a:solidFill>
                  <a:srgbClr val="444A55"/>
                </a:solidFill>
                <a:latin typeface="Arial"/>
              </a:rPr>
              <a:t>      Propuso DUENO_DIRECTO en 21 avisos donde esa frase no aparece ni una vez. Y URGENCIA en 14, también sin ninguna mención real.</a:t>
            </a:r>
          </a:p>
          <a:p>
            <a:pPr algn="l">
              <a:spcAft>
                <a:spcPts val="1100"/>
              </a:spcAft>
            </a:pPr>
            <a:r>
              <a:rPr sz="1400" b="0">
                <a:solidFill>
                  <a:srgbClr val="444A55"/>
                </a:solidFill>
                <a:latin typeface="Arial"/>
              </a:rPr>
              <a:t>      Su falla dominante, sin embargo, es la OMISIÓN: el revisor agregó 84 entidades y borró 30. Encuentra menos de la mitad de lo que hay.</a:t>
            </a:r>
          </a:p>
          <a:p>
            <a:pPr algn="l">
              <a:spcAft>
                <a:spcPts val="1100"/>
              </a:spcAft>
            </a:pPr>
            <a:r>
              <a:rPr sz="1400" b="0">
                <a:solidFill>
                  <a:srgbClr val="444A55"/>
                </a:solidFill>
                <a:latin typeface="Arial"/>
              </a:rPr>
              <a:t/>
            </a:r>
          </a:p>
          <a:p>
            <a:pPr algn="l">
              <a:spcAft>
                <a:spcPts val="1100"/>
              </a:spcAft>
            </a:pPr>
            <a:r>
              <a:rPr sz="1400" b="0">
                <a:solidFill>
                  <a:srgbClr val="444A55"/>
                </a:solidFill>
                <a:latin typeface="Arial"/>
              </a:rPr>
              <a:t>LA CLASIFICACIÓN NO SE PUDO EVALUAR — y ese es el hallazgo.</a:t>
            </a:r>
          </a:p>
          <a:p>
            <a:pPr algn="l">
              <a:spcAft>
                <a:spcPts val="1100"/>
              </a:spcAft>
            </a:pPr>
            <a:r>
              <a:rPr sz="1400" b="0">
                <a:solidFill>
                  <a:srgbClr val="444A55"/>
                </a:solidFill>
                <a:latin typeface="Arial"/>
              </a:rPr>
              <a:t>      Tras la corrección quedaron 2 señales positivas en 45 avisos, con tres clases vacías. Cualquier F1 sería ruido, así que no se reporta ninguno.</a:t>
            </a:r>
          </a:p>
          <a:p>
            <a:pPr algn="l">
              <a:spcAft>
                <a:spcPts val="1100"/>
              </a:spcAft>
            </a:pPr>
            <a:r>
              <a:rPr sz="1400" b="0">
                <a:solidFill>
                  <a:srgbClr val="444A55"/>
                </a:solidFill>
                <a:latin typeface="Arial"/>
              </a:rPr>
              <a:t>      La causa: el 73% de la muestra son avisos de INMOBILIARIAS (llevan matrícula). Una inmobiliaria nunca escribe «dueño directo».</a:t>
            </a:r>
          </a:p>
          <a:p>
            <a:pPr algn="l">
              <a:spcAft>
                <a:spcPts val="1100"/>
              </a:spcAft>
            </a:pPr>
            <a:r>
              <a:rPr sz="1400" b="0">
                <a:solidFill>
                  <a:srgbClr val="444A55"/>
                </a:solidFill>
                <a:latin typeface="Arial"/>
              </a:rPr>
              <a:t/>
            </a:r>
          </a:p>
          <a:p>
            <a:pPr algn="l">
              <a:spcAft>
                <a:spcPts val="1100"/>
              </a:spcAft>
            </a:pPr>
            <a:r>
              <a:rPr sz="1400" b="0">
                <a:solidFill>
                  <a:srgbClr val="444A55"/>
                </a:solidFill>
                <a:latin typeface="Arial"/>
              </a:rPr>
              <a:t>CONSECUENCIA METODOLÓGICA.</a:t>
            </a:r>
          </a:p>
          <a:p>
            <a:pPr algn="l">
              <a:spcAft>
                <a:spcPts val="1100"/>
              </a:spcAft>
            </a:pPr>
            <a:r>
              <a:rPr sz="1400" b="0">
                <a:solidFill>
                  <a:srgbClr val="444A55"/>
                </a:solidFill>
                <a:latin typeface="Arial"/>
              </a:rPr>
              <a:t>      Para evaluar esa capa hace falta muestrear avisos de particulares. No es una falla del modelo sino del conjunto con el que se lo probó.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Resultados — capa de agente</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50.0%</a:t>
            </a:r>
          </a:p>
          <a:p>
            <a:pPr algn="ctr"/>
            <a:r>
              <a:rPr sz="1300">
                <a:solidFill>
                  <a:srgbClr val="FFFFFF"/>
                </a:solidFill>
                <a:latin typeface="Arial"/>
              </a:rPr>
              <a:t>Tasa de éxito
de extracción</a:t>
            </a:r>
          </a:p>
        </p:txBody>
      </p:sp>
      <p:sp>
        <p:nvSpPr>
          <p:cNvPr id="5" name="Rounded Rectangle 4"/>
          <p:cNvSpPr/>
          <p:nvPr/>
        </p:nvSpPr>
        <p:spPr>
          <a:xfrm>
            <a:off x="34518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40</a:t>
            </a:r>
          </a:p>
          <a:p>
            <a:pPr algn="ctr"/>
            <a:r>
              <a:rPr sz="1300">
                <a:solidFill>
                  <a:srgbClr val="FFFFFF"/>
                </a:solidFill>
                <a:latin typeface="Arial"/>
              </a:rPr>
              <a:t>Avisos
extraídos</a:t>
            </a:r>
          </a:p>
        </p:txBody>
      </p:sp>
      <p:sp>
        <p:nvSpPr>
          <p:cNvPr id="6" name="Rounded Rectangle 5"/>
          <p:cNvSpPr/>
          <p:nvPr/>
        </p:nvSpPr>
        <p:spPr>
          <a:xfrm>
            <a:off x="60807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87.5%</a:t>
            </a:r>
          </a:p>
          <a:p>
            <a:pPr algn="ctr"/>
            <a:r>
              <a:rPr sz="1300">
                <a:solidFill>
                  <a:srgbClr val="FFFFFF"/>
                </a:solidFill>
                <a:latin typeface="Arial"/>
              </a:rPr>
              <a:t>Retención del parser
sin selectores data-qa</a:t>
            </a:r>
          </a:p>
        </p:txBody>
      </p:sp>
      <p:sp>
        <p:nvSpPr>
          <p:cNvPr id="7" name="Rounded Rectangle 6"/>
          <p:cNvSpPr/>
          <p:nvPr/>
        </p:nvSpPr>
        <p:spPr>
          <a:xfrm>
            <a:off x="8709660" y="1828800"/>
            <a:ext cx="2400300" cy="2103120"/>
          </a:xfrm>
          <a:prstGeom prst="roundRect">
            <a:avLst/>
          </a:prstGeom>
          <a:solidFill>
            <a:srgbClr val="16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C9A24B"/>
                </a:solidFill>
                <a:latin typeface="Arial"/>
              </a:rPr>
              <a:t>100.0%</a:t>
            </a:r>
          </a:p>
          <a:p>
            <a:pPr algn="ctr"/>
            <a:r>
              <a:rPr sz="1300">
                <a:solidFill>
                  <a:srgbClr val="FFFFFF"/>
                </a:solidFill>
                <a:latin typeface="Arial"/>
              </a:rPr>
              <a:t>Retención
con layout renombrado</a:t>
            </a:r>
          </a:p>
        </p:txBody>
      </p:sp>
      <p:sp>
        <p:nvSpPr>
          <p:cNvPr id="8" name="TextBox 7"/>
          <p:cNvSpPr txBox="1"/>
          <p:nvPr/>
        </p:nvSpPr>
        <p:spPr>
          <a:xfrm>
            <a:off x="822960" y="4297680"/>
            <a:ext cx="10515600" cy="1828800"/>
          </a:xfrm>
          <a:prstGeom prst="rect">
            <a:avLst/>
          </a:prstGeom>
          <a:noFill/>
        </p:spPr>
        <p:txBody>
          <a:bodyPr wrap="square">
            <a:spAutoFit/>
          </a:bodyPr>
          <a:lstStyle/>
          <a:p>
            <a:pPr algn="l">
              <a:spcAft>
                <a:spcPts val="1000"/>
              </a:spcAft>
            </a:pPr>
            <a:r>
              <a:rPr sz="1500" b="0">
                <a:solidFill>
                  <a:srgbClr val="444A55"/>
                </a:solidFill>
                <a:latin typeface="Arial"/>
              </a:rPr>
              <a:t>Robustez: se toma un HTML que el parser sabe leer y se lo degrada imitando cambios reales del portal, midiendo qué campos sobreviven.</a:t>
            </a:r>
          </a:p>
          <a:p>
            <a:pPr algn="l">
              <a:spcAft>
                <a:spcPts val="1000"/>
              </a:spcAft>
            </a:pPr>
            <a:r>
              <a:rPr sz="1500" b="0">
                <a:solidFill>
                  <a:srgbClr val="444A55"/>
                </a:solidFill>
                <a:latin typeface="Arial"/>
              </a:rPr>
              <a:t/>
            </a:r>
          </a:p>
          <a:p>
            <a:pPr algn="l">
              <a:spcAft>
                <a:spcPts val="1000"/>
              </a:spcAft>
            </a:pPr>
            <a:r>
              <a:rPr sz="1500" b="0">
                <a:solidFill>
                  <a:srgbClr val="444A55"/>
                </a:solidFill>
                <a:latin typeface="Arial"/>
              </a:rPr>
              <a:t>Al desaparecer los selectores data-qa, los campos numéricos y el barrio se recuperan por regex sobre el texto plano; sólo se pierde la descripción, que necesita algún gancho de markup. Un scraper de un solo nivel habría caído a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«¿Y si el portal ya publica los atributos?»</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548640"/>
          </a:xfrm>
          <a:prstGeom prst="rect">
            <a:avLst/>
          </a:prstGeom>
          <a:noFill/>
        </p:spPr>
        <p:txBody>
          <a:bodyPr wrap="square">
            <a:spAutoFit/>
          </a:bodyPr>
          <a:lstStyle/>
          <a:p>
            <a:pPr algn="l">
              <a:spcAft>
                <a:spcPts val="800"/>
              </a:spcAft>
            </a:pPr>
            <a:r>
              <a:rPr sz="1500" b="1">
                <a:solidFill>
                  <a:srgbClr val="C9A24B"/>
                </a:solidFill>
                <a:latin typeface="Arial"/>
              </a:rPr>
              <a:t>La objeción más razonable al trabajo, respondida con datos</a:t>
            </a:r>
          </a:p>
        </p:txBody>
      </p:sp>
      <p:sp>
        <p:nvSpPr>
          <p:cNvPr id="5" name="TextBox 4"/>
          <p:cNvSpPr txBox="1"/>
          <p:nvPr/>
        </p:nvSpPr>
        <p:spPr>
          <a:xfrm>
            <a:off x="822960" y="2148840"/>
            <a:ext cx="10515600" cy="4206240"/>
          </a:xfrm>
          <a:prstGeom prst="rect">
            <a:avLst/>
          </a:prstGeom>
          <a:noFill/>
        </p:spPr>
        <p:txBody>
          <a:bodyPr wrap="square">
            <a:spAutoFit/>
          </a:bodyPr>
          <a:lstStyle/>
          <a:p>
            <a:pPr algn="l">
              <a:spcAft>
                <a:spcPts val="1100"/>
              </a:spcAft>
            </a:pPr>
            <a:r>
              <a:rPr sz="1500" b="0">
                <a:solidFill>
                  <a:srgbClr val="444A55"/>
                </a:solidFill>
                <a:latin typeface="Arial"/>
              </a:rPr>
              <a:t>Argenprop SÍ expone una ficha estructurada en cada página de detalle: 38 items tildados y 20 pares clave-valor. La objeción es válida, así que se midió.</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Sobre una muestra de 10 avisos, comparando ambas fuentes con el mismo vocabulario:</a:t>
            </a:r>
          </a:p>
          <a:p>
            <a:pPr algn="l">
              <a:spcAft>
                <a:spcPts val="1100"/>
              </a:spcAft>
            </a:pPr>
            <a:r>
              <a:rPr sz="1500" b="0">
                <a:solidFill>
                  <a:srgbClr val="444A55"/>
                </a:solidFill>
                <a:latin typeface="Arial"/>
              </a:rPr>
              <a:t>      • Amenities tildados en la ficha:            31</a:t>
            </a:r>
          </a:p>
          <a:p>
            <a:pPr algn="l">
              <a:spcAft>
                <a:spcPts val="1100"/>
              </a:spcAft>
            </a:pPr>
            <a:r>
              <a:rPr sz="1500" b="0">
                <a:solidFill>
                  <a:srgbClr val="444A55"/>
                </a:solidFill>
                <a:latin typeface="Arial"/>
              </a:rPr>
              <a:t>      • Amenities mencionados en la descripción:   36</a:t>
            </a:r>
          </a:p>
          <a:p>
            <a:pPr algn="l">
              <a:spcAft>
                <a:spcPts val="1100"/>
              </a:spcAft>
            </a:pPr>
            <a:r>
              <a:rPr sz="1500" b="0">
                <a:solidFill>
                  <a:srgbClr val="444A55"/>
                </a:solidFill>
                <a:latin typeface="Arial"/>
              </a:rPr>
              <a:t>      • SÓLO en la descripción (se perderían):     18</a:t>
            </a:r>
          </a:p>
          <a:p>
            <a:pPr algn="l">
              <a:spcAft>
                <a:spcPts val="1100"/>
              </a:spcAft>
            </a:pPr>
            <a:r>
              <a:rPr sz="1500" b="0">
                <a:solidFill>
                  <a:srgbClr val="444A55"/>
                </a:solidFill>
                <a:latin typeface="Arial"/>
              </a:rPr>
              <a:t>      • SÓLO en la ficha:                          13</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LAS DOS FUENTES SON COMPLEMENTARIAS, NO REDUNDANTES. Ninguna contiene a la otra: la ficha la completa el publicador, y cada uno completa distinto.</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Y las señales del vendedor —«escucho ofertas», «venta urgente»— no tienen equivalente tabulado en ningún portal. Ahí el NLP no compite con nada.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Limitaciones</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206240"/>
          </a:xfrm>
          <a:prstGeom prst="rect">
            <a:avLst/>
          </a:prstGeom>
          <a:noFill/>
        </p:spPr>
        <p:txBody>
          <a:bodyPr wrap="square">
            <a:spAutoFit/>
          </a:bodyPr>
          <a:lstStyle/>
          <a:p>
            <a:pPr algn="l">
              <a:spcAft>
                <a:spcPts val="1100"/>
              </a:spcAft>
            </a:pPr>
            <a:r>
              <a:rPr sz="1500" b="0">
                <a:solidFill>
                  <a:srgbClr val="444A55"/>
                </a:solidFill>
                <a:latin typeface="Arial"/>
              </a:rPr>
              <a:t>•  Volumen del scrape. La propuesta apuntaba a 8.000–15.000 avisos; se trabajó con un volumen mucho menor. El anti-bot del portal (DataDome/Cloudflare) y el rate-limiting cortés hacen que una corrida completa lleve muchas horas. El objetivo fue demostrar que la arquitectura funciona.</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  Entrenamiento sobre datos sintéticos, con el conjunto real como evaluación externa. Un dataset real y grande daría mejores resultados.</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  Anotación semiautomática. El pre-anotador es un LLM chico (llama3.2:3b, por la restricción de 4 GB de VRAM); sus errores se propagan a las etiquetas, y por eso la revisión manual del subconjunto.</a:t>
            </a:r>
          </a:p>
          <a:p>
            <a:pPr algn="l">
              <a:spcAft>
                <a:spcPts val="1100"/>
              </a:spcAft>
            </a:pPr>
            <a:r>
              <a:rPr sz="1500" b="0">
                <a:solidFill>
                  <a:srgbClr val="444A55"/>
                </a:solidFill>
                <a:latin typeface="Arial"/>
              </a:rPr>
              <a:t/>
            </a:r>
          </a:p>
          <a:p>
            <a:pPr algn="l">
              <a:spcAft>
                <a:spcPts val="1100"/>
              </a:spcAft>
            </a:pPr>
            <a:r>
              <a:rPr sz="1500" b="0">
                <a:solidFill>
                  <a:srgbClr val="444A55"/>
                </a:solidFill>
                <a:latin typeface="Arial"/>
              </a:rPr>
              <a:t>•  Términos de uso. Scraping con fines académicos, a ritmo razonable y sin redistribuir el contenido del portal.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15600" cy="822960"/>
          </a:xfrm>
          <a:prstGeom prst="rect">
            <a:avLst/>
          </a:prstGeom>
          <a:noFill/>
        </p:spPr>
        <p:txBody>
          <a:bodyPr wrap="square">
            <a:spAutoFit/>
          </a:bodyPr>
          <a:lstStyle/>
          <a:p>
            <a:pPr algn="l">
              <a:spcAft>
                <a:spcPts val="800"/>
              </a:spcAft>
            </a:pPr>
            <a:r>
              <a:rPr sz="2800" b="1">
                <a:solidFill>
                  <a:srgbClr val="16243D"/>
                </a:solidFill>
                <a:latin typeface="Arial"/>
              </a:rPr>
              <a:t>Trabajo futuro</a:t>
            </a:r>
          </a:p>
        </p:txBody>
      </p:sp>
      <p:sp>
        <p:nvSpPr>
          <p:cNvPr id="3" name="Rectangle 2"/>
          <p:cNvSpPr/>
          <p:nvPr/>
        </p:nvSpPr>
        <p:spPr>
          <a:xfrm>
            <a:off x="822960" y="123444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548640"/>
          </a:xfrm>
          <a:prstGeom prst="rect">
            <a:avLst/>
          </a:prstGeom>
          <a:noFill/>
        </p:spPr>
        <p:txBody>
          <a:bodyPr wrap="square">
            <a:spAutoFit/>
          </a:bodyPr>
          <a:lstStyle/>
          <a:p>
            <a:pPr algn="l">
              <a:spcAft>
                <a:spcPts val="800"/>
              </a:spcAft>
            </a:pPr>
            <a:r>
              <a:rPr sz="1500" b="1">
                <a:solidFill>
                  <a:srgbClr val="C9A24B"/>
                </a:solidFill>
                <a:latin typeface="Arial"/>
              </a:rPr>
              <a:t>La motivación detrás del proyecto</a:t>
            </a:r>
          </a:p>
        </p:txBody>
      </p:sp>
      <p:sp>
        <p:nvSpPr>
          <p:cNvPr id="5" name="TextBox 4"/>
          <p:cNvSpPr txBox="1"/>
          <p:nvPr/>
        </p:nvSpPr>
        <p:spPr>
          <a:xfrm>
            <a:off x="822960" y="2148840"/>
            <a:ext cx="10515600" cy="4206240"/>
          </a:xfrm>
          <a:prstGeom prst="rect">
            <a:avLst/>
          </a:prstGeom>
          <a:noFill/>
        </p:spPr>
        <p:txBody>
          <a:bodyPr wrap="square">
            <a:spAutoFit/>
          </a:bodyPr>
          <a:lstStyle/>
          <a:p>
            <a:pPr algn="l">
              <a:spcAft>
                <a:spcPts val="1100"/>
              </a:spcAft>
            </a:pPr>
            <a:r>
              <a:rPr sz="1700" b="0">
                <a:solidFill>
                  <a:srgbClr val="444A55"/>
                </a:solidFill>
                <a:latin typeface="Arial"/>
              </a:rPr>
              <a:t>Los atributos generados por esta capa de NLP están pensados para integrarse, en el marco de la tesis de la maestría, como features de un modelo hedónico de valuación para detectar activos subvaluados en CABA.</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La hipótesis a testear: que las variables latentes extraídas del texto libre aporten poder explicativo por encima de los atributos tabulares tradicionales (metros, ambientes, ubicación, antigüedad).</a:t>
            </a:r>
          </a:p>
          <a:p>
            <a:pPr algn="l">
              <a:spcAft>
                <a:spcPts val="1100"/>
              </a:spcAft>
            </a:pPr>
            <a:r>
              <a:rPr sz="1700" b="0">
                <a:solidFill>
                  <a:srgbClr val="444A55"/>
                </a:solidFill>
                <a:latin typeface="Arial"/>
              </a:rPr>
              <a:t/>
            </a:r>
          </a:p>
          <a:p>
            <a:pPr algn="l">
              <a:spcAft>
                <a:spcPts val="1100"/>
              </a:spcAft>
            </a:pPr>
            <a:r>
              <a:rPr sz="1700" b="0">
                <a:solidFill>
                  <a:srgbClr val="444A55"/>
                </a:solidFill>
                <a:latin typeface="Arial"/>
              </a:rPr>
              <a:t>Esa integración excede el alcance del presente Trabajo Final y se menciona para dar cuenta de la continuidad del proyecto.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43D"/>
        </a:solidFill>
        <a:effectLst/>
      </p:bgPr>
    </p:bg>
    <p:spTree>
      <p:nvGrpSpPr>
        <p:cNvPr id="1" name=""/>
        <p:cNvGrpSpPr/>
        <p:nvPr/>
      </p:nvGrpSpPr>
      <p:grpSpPr/>
      <p:sp>
        <p:nvSpPr>
          <p:cNvPr id="2" name="TextBox 1"/>
          <p:cNvSpPr txBox="1"/>
          <p:nvPr/>
        </p:nvSpPr>
        <p:spPr>
          <a:xfrm>
            <a:off x="822960" y="1920240"/>
            <a:ext cx="10515600" cy="2194560"/>
          </a:xfrm>
          <a:prstGeom prst="rect">
            <a:avLst/>
          </a:prstGeom>
          <a:noFill/>
        </p:spPr>
        <p:txBody>
          <a:bodyPr wrap="square">
            <a:spAutoFit/>
          </a:bodyPr>
          <a:lstStyle/>
          <a:p>
            <a:pPr algn="l">
              <a:spcAft>
                <a:spcPts val="800"/>
              </a:spcAft>
            </a:pPr>
            <a:r>
              <a:rPr sz="3600" b="1">
                <a:solidFill>
                  <a:srgbClr val="FFFFFF"/>
                </a:solidFill>
                <a:latin typeface="Arial"/>
              </a:rPr>
              <a:t>Gracias</a:t>
            </a:r>
          </a:p>
        </p:txBody>
      </p:sp>
      <p:sp>
        <p:nvSpPr>
          <p:cNvPr id="3" name="Rectangle 2"/>
          <p:cNvSpPr/>
          <p:nvPr/>
        </p:nvSpPr>
        <p:spPr>
          <a:xfrm>
            <a:off x="868680" y="4160520"/>
            <a:ext cx="2011680" cy="4445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434840"/>
            <a:ext cx="10515600" cy="914400"/>
          </a:xfrm>
          <a:prstGeom prst="rect">
            <a:avLst/>
          </a:prstGeom>
          <a:noFill/>
        </p:spPr>
        <p:txBody>
          <a:bodyPr wrap="square">
            <a:spAutoFit/>
          </a:bodyPr>
          <a:lstStyle/>
          <a:p>
            <a:pPr algn="l">
              <a:spcAft>
                <a:spcPts val="800"/>
              </a:spcAft>
            </a:pPr>
            <a:r>
              <a:rPr sz="1800" b="0">
                <a:solidFill>
                  <a:srgbClr val="C9A24B"/>
                </a:solidFill>
                <a:latin typeface="Arial"/>
              </a:rPr>
              <a:t>Código, datos y reportes reproducibles</a:t>
            </a:r>
          </a:p>
        </p:txBody>
      </p:sp>
      <p:sp>
        <p:nvSpPr>
          <p:cNvPr id="5" name="TextBox 4"/>
          <p:cNvSpPr txBox="1"/>
          <p:nvPr/>
        </p:nvSpPr>
        <p:spPr>
          <a:xfrm>
            <a:off x="822960" y="5394960"/>
            <a:ext cx="10515600" cy="822960"/>
          </a:xfrm>
          <a:prstGeom prst="rect">
            <a:avLst/>
          </a:prstGeom>
          <a:noFill/>
        </p:spPr>
        <p:txBody>
          <a:bodyPr wrap="square">
            <a:spAutoFit/>
          </a:bodyPr>
          <a:lstStyle/>
          <a:p>
            <a:pPr algn="l">
              <a:spcAft>
                <a:spcPts val="800"/>
              </a:spcAft>
            </a:pPr>
            <a:r>
              <a:rPr sz="1400" b="0">
                <a:solidFill>
                  <a:srgbClr val="FFFFFF"/>
                </a:solidFill>
                <a:latin typeface="Arial"/>
              </a:rPr>
              <a:t>github.com/&lt;usuario&gt;/zonaprop-agent-nlp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